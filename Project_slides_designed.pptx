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71" r:id="rId5"/>
    <p:sldId id="270" r:id="rId6"/>
    <p:sldId id="261" r:id="rId7"/>
    <p:sldId id="262" r:id="rId8"/>
    <p:sldId id="263" r:id="rId9"/>
    <p:sldId id="264" r:id="rId10"/>
    <p:sldId id="265" r:id="rId11"/>
    <p:sldId id="268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7" d="100"/>
          <a:sy n="137" d="100"/>
        </p:scale>
        <p:origin x="384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7F58F3-25ED-4718-B67A-894024871C1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6FF7F7-7237-4E68-A5B5-28EA24B3E13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Housing prices reflect both </a:t>
          </a:r>
          <a:r>
            <a:rPr lang="en-US" b="1"/>
            <a:t>structural attributes</a:t>
          </a:r>
          <a:r>
            <a:rPr lang="en-US"/>
            <a:t> and </a:t>
          </a:r>
          <a:r>
            <a:rPr lang="en-US" b="1"/>
            <a:t>location effects</a:t>
          </a:r>
          <a:endParaRPr lang="en-US"/>
        </a:p>
      </dgm:t>
    </dgm:pt>
    <dgm:pt modelId="{C6BCB863-B399-4B59-96AB-B12771534F72}" type="parTrans" cxnId="{47EACBCE-8D2E-4545-87D2-C6D1DEE57D8E}">
      <dgm:prSet/>
      <dgm:spPr/>
      <dgm:t>
        <a:bodyPr/>
        <a:lstStyle/>
        <a:p>
          <a:endParaRPr lang="en-US"/>
        </a:p>
      </dgm:t>
    </dgm:pt>
    <dgm:pt modelId="{40C5EE2A-DF93-4159-BCE2-BBE373FA1F54}" type="sibTrans" cxnId="{47EACBCE-8D2E-4545-87D2-C6D1DEE57D8E}">
      <dgm:prSet/>
      <dgm:spPr/>
      <dgm:t>
        <a:bodyPr/>
        <a:lstStyle/>
        <a:p>
          <a:endParaRPr lang="en-US"/>
        </a:p>
      </dgm:t>
    </dgm:pt>
    <dgm:pt modelId="{4EAD1363-9B8F-4E0D-BF3B-D355AC0FED1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Understanding price drivers is critical for buyers, sellers, and investors</a:t>
          </a:r>
        </a:p>
      </dgm:t>
    </dgm:pt>
    <dgm:pt modelId="{7CF46BD7-0B3B-4169-A946-F4237D8F54B5}" type="parTrans" cxnId="{FF1E4DF4-A908-49A3-9D12-18FA189BB36A}">
      <dgm:prSet/>
      <dgm:spPr/>
      <dgm:t>
        <a:bodyPr/>
        <a:lstStyle/>
        <a:p>
          <a:endParaRPr lang="en-US"/>
        </a:p>
      </dgm:t>
    </dgm:pt>
    <dgm:pt modelId="{F9BEB7E7-56F0-4A13-8160-4DEAA2536DAC}" type="sibTrans" cxnId="{FF1E4DF4-A908-49A3-9D12-18FA189BB36A}">
      <dgm:prSet/>
      <dgm:spPr/>
      <dgm:t>
        <a:bodyPr/>
        <a:lstStyle/>
        <a:p>
          <a:endParaRPr lang="en-US"/>
        </a:p>
      </dgm:t>
    </dgm:pt>
    <dgm:pt modelId="{9B750CEC-F2CD-4BF0-9DA9-D32357E7B4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This project combines </a:t>
          </a:r>
          <a:r>
            <a:rPr lang="en-US" b="1"/>
            <a:t>explanatory</a:t>
          </a:r>
          <a:r>
            <a:rPr lang="en-US"/>
            <a:t> and </a:t>
          </a:r>
          <a:r>
            <a:rPr lang="en-US" b="1"/>
            <a:t>predictive</a:t>
          </a:r>
          <a:r>
            <a:rPr lang="en-US"/>
            <a:t> modeling approaches</a:t>
          </a:r>
        </a:p>
      </dgm:t>
    </dgm:pt>
    <dgm:pt modelId="{FE75DE5E-E1A6-476D-859F-0853E1860B06}" type="parTrans" cxnId="{3EBAEB14-8585-40EF-8CF8-92DB0DE08FAB}">
      <dgm:prSet/>
      <dgm:spPr/>
      <dgm:t>
        <a:bodyPr/>
        <a:lstStyle/>
        <a:p>
          <a:endParaRPr lang="en-US"/>
        </a:p>
      </dgm:t>
    </dgm:pt>
    <dgm:pt modelId="{45C69B5A-26B1-4453-8022-28E106788755}" type="sibTrans" cxnId="{3EBAEB14-8585-40EF-8CF8-92DB0DE08FAB}">
      <dgm:prSet/>
      <dgm:spPr/>
      <dgm:t>
        <a:bodyPr/>
        <a:lstStyle/>
        <a:p>
          <a:endParaRPr lang="en-US"/>
        </a:p>
      </dgm:t>
    </dgm:pt>
    <dgm:pt modelId="{5DCD36E5-F939-4518-80B2-636E38CA146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/>
            <a:t>Methods used:</a:t>
          </a:r>
          <a:r>
            <a:rPr lang="en-US"/>
            <a:t> - ANOVA and OLS regression - Logistic regression - Bootstrap inference</a:t>
          </a:r>
        </a:p>
      </dgm:t>
    </dgm:pt>
    <dgm:pt modelId="{6DE8EA9C-245B-40E5-8E41-8E8ED5024B4E}" type="parTrans" cxnId="{B6616BF7-EBDD-417B-BD72-0660C591D3B8}">
      <dgm:prSet/>
      <dgm:spPr/>
      <dgm:t>
        <a:bodyPr/>
        <a:lstStyle/>
        <a:p>
          <a:endParaRPr lang="en-US"/>
        </a:p>
      </dgm:t>
    </dgm:pt>
    <dgm:pt modelId="{6CB07D94-9930-443D-8CFC-A216B9BA3519}" type="sibTrans" cxnId="{B6616BF7-EBDD-417B-BD72-0660C591D3B8}">
      <dgm:prSet/>
      <dgm:spPr/>
      <dgm:t>
        <a:bodyPr/>
        <a:lstStyle/>
        <a:p>
          <a:endParaRPr lang="en-US"/>
        </a:p>
      </dgm:t>
    </dgm:pt>
    <dgm:pt modelId="{BF71ADCC-628B-4066-A3C3-5908C52E0AA8}" type="pres">
      <dgm:prSet presAssocID="{1C7F58F3-25ED-4718-B67A-894024871C1D}" presName="root" presStyleCnt="0">
        <dgm:presLayoutVars>
          <dgm:dir/>
          <dgm:resizeHandles val="exact"/>
        </dgm:presLayoutVars>
      </dgm:prSet>
      <dgm:spPr/>
    </dgm:pt>
    <dgm:pt modelId="{F90E79DB-AC4A-434B-869E-2D8F21A631B1}" type="pres">
      <dgm:prSet presAssocID="{5C6FF7F7-7237-4E68-A5B5-28EA24B3E134}" presName="compNode" presStyleCnt="0"/>
      <dgm:spPr/>
    </dgm:pt>
    <dgm:pt modelId="{2F18B07F-296C-4054-B86A-B79E5274238B}" type="pres">
      <dgm:prSet presAssocID="{5C6FF7F7-7237-4E68-A5B5-28EA24B3E134}" presName="iconBgRect" presStyleLbl="bgShp" presStyleIdx="0" presStyleCnt="4"/>
      <dgm:spPr/>
    </dgm:pt>
    <dgm:pt modelId="{77ECD48C-6BFD-435F-961D-9747D27F38A0}" type="pres">
      <dgm:prSet presAssocID="{5C6FF7F7-7237-4E68-A5B5-28EA24B3E13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6D1228E8-3B9B-4A32-84DE-A89F33FA3903}" type="pres">
      <dgm:prSet presAssocID="{5C6FF7F7-7237-4E68-A5B5-28EA24B3E134}" presName="spaceRect" presStyleCnt="0"/>
      <dgm:spPr/>
    </dgm:pt>
    <dgm:pt modelId="{25919BB5-DDB6-4F89-B7A8-B738A512564A}" type="pres">
      <dgm:prSet presAssocID="{5C6FF7F7-7237-4E68-A5B5-28EA24B3E134}" presName="textRect" presStyleLbl="revTx" presStyleIdx="0" presStyleCnt="4">
        <dgm:presLayoutVars>
          <dgm:chMax val="1"/>
          <dgm:chPref val="1"/>
        </dgm:presLayoutVars>
      </dgm:prSet>
      <dgm:spPr/>
    </dgm:pt>
    <dgm:pt modelId="{BCC7EF40-29A1-47B2-ACE6-EE3E112AECFD}" type="pres">
      <dgm:prSet presAssocID="{40C5EE2A-DF93-4159-BCE2-BBE373FA1F54}" presName="sibTrans" presStyleCnt="0"/>
      <dgm:spPr/>
    </dgm:pt>
    <dgm:pt modelId="{650F975F-F3E6-478E-8097-4AB89CC32AC8}" type="pres">
      <dgm:prSet presAssocID="{4EAD1363-9B8F-4E0D-BF3B-D355AC0FED1F}" presName="compNode" presStyleCnt="0"/>
      <dgm:spPr/>
    </dgm:pt>
    <dgm:pt modelId="{47A96CE9-5FC3-40FF-9501-1998277D6A09}" type="pres">
      <dgm:prSet presAssocID="{4EAD1363-9B8F-4E0D-BF3B-D355AC0FED1F}" presName="iconBgRect" presStyleLbl="bgShp" presStyleIdx="1" presStyleCnt="4"/>
      <dgm:spPr/>
    </dgm:pt>
    <dgm:pt modelId="{7453188B-2500-48B2-986E-F1AEE772EE40}" type="pres">
      <dgm:prSet presAssocID="{4EAD1363-9B8F-4E0D-BF3B-D355AC0FED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C8308E25-732B-4CB7-A87C-DA6000808D21}" type="pres">
      <dgm:prSet presAssocID="{4EAD1363-9B8F-4E0D-BF3B-D355AC0FED1F}" presName="spaceRect" presStyleCnt="0"/>
      <dgm:spPr/>
    </dgm:pt>
    <dgm:pt modelId="{CADDA78F-E1BD-4166-AE64-86C5E8644922}" type="pres">
      <dgm:prSet presAssocID="{4EAD1363-9B8F-4E0D-BF3B-D355AC0FED1F}" presName="textRect" presStyleLbl="revTx" presStyleIdx="1" presStyleCnt="4">
        <dgm:presLayoutVars>
          <dgm:chMax val="1"/>
          <dgm:chPref val="1"/>
        </dgm:presLayoutVars>
      </dgm:prSet>
      <dgm:spPr/>
    </dgm:pt>
    <dgm:pt modelId="{B4F4C3FA-41F9-482C-A149-86B3286DC6ED}" type="pres">
      <dgm:prSet presAssocID="{F9BEB7E7-56F0-4A13-8160-4DEAA2536DAC}" presName="sibTrans" presStyleCnt="0"/>
      <dgm:spPr/>
    </dgm:pt>
    <dgm:pt modelId="{A62555F0-0F97-4C16-9F98-AE1E030087FA}" type="pres">
      <dgm:prSet presAssocID="{9B750CEC-F2CD-4BF0-9DA9-D32357E7B4FC}" presName="compNode" presStyleCnt="0"/>
      <dgm:spPr/>
    </dgm:pt>
    <dgm:pt modelId="{BAB03018-15E7-446F-B897-A1F68ED969A5}" type="pres">
      <dgm:prSet presAssocID="{9B750CEC-F2CD-4BF0-9DA9-D32357E7B4FC}" presName="iconBgRect" presStyleLbl="bgShp" presStyleIdx="2" presStyleCnt="4"/>
      <dgm:spPr/>
    </dgm:pt>
    <dgm:pt modelId="{F774D81B-F617-4002-90DC-E760D1EC5522}" type="pres">
      <dgm:prSet presAssocID="{9B750CEC-F2CD-4BF0-9DA9-D32357E7B4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10DC4BC-2075-4325-8F6B-89C89A03CDE9}" type="pres">
      <dgm:prSet presAssocID="{9B750CEC-F2CD-4BF0-9DA9-D32357E7B4FC}" presName="spaceRect" presStyleCnt="0"/>
      <dgm:spPr/>
    </dgm:pt>
    <dgm:pt modelId="{E744FB7C-92FB-49B7-97B0-1B6659D2466E}" type="pres">
      <dgm:prSet presAssocID="{9B750CEC-F2CD-4BF0-9DA9-D32357E7B4FC}" presName="textRect" presStyleLbl="revTx" presStyleIdx="2" presStyleCnt="4">
        <dgm:presLayoutVars>
          <dgm:chMax val="1"/>
          <dgm:chPref val="1"/>
        </dgm:presLayoutVars>
      </dgm:prSet>
      <dgm:spPr/>
    </dgm:pt>
    <dgm:pt modelId="{1F832C60-B306-44D7-9C42-F8DA0354086B}" type="pres">
      <dgm:prSet presAssocID="{45C69B5A-26B1-4453-8022-28E106788755}" presName="sibTrans" presStyleCnt="0"/>
      <dgm:spPr/>
    </dgm:pt>
    <dgm:pt modelId="{2194209E-9C06-4BD9-B13E-60C174F0EDB7}" type="pres">
      <dgm:prSet presAssocID="{5DCD36E5-F939-4518-80B2-636E38CA146F}" presName="compNode" presStyleCnt="0"/>
      <dgm:spPr/>
    </dgm:pt>
    <dgm:pt modelId="{56DEA28E-8DB9-44D6-B7E8-4A38A3A5D10C}" type="pres">
      <dgm:prSet presAssocID="{5DCD36E5-F939-4518-80B2-636E38CA146F}" presName="iconBgRect" presStyleLbl="bgShp" presStyleIdx="3" presStyleCnt="4"/>
      <dgm:spPr/>
    </dgm:pt>
    <dgm:pt modelId="{58D9748E-A29A-4CFC-AD55-813DE37F0757}" type="pres">
      <dgm:prSet presAssocID="{5DCD36E5-F939-4518-80B2-636E38CA146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wnhill skiing"/>
        </a:ext>
      </dgm:extLst>
    </dgm:pt>
    <dgm:pt modelId="{B1BB71AE-A7C3-49A1-B263-8F6F1593B0F2}" type="pres">
      <dgm:prSet presAssocID="{5DCD36E5-F939-4518-80B2-636E38CA146F}" presName="spaceRect" presStyleCnt="0"/>
      <dgm:spPr/>
    </dgm:pt>
    <dgm:pt modelId="{D7808317-BCA0-40FB-A9DB-4A5B096AFED5}" type="pres">
      <dgm:prSet presAssocID="{5DCD36E5-F939-4518-80B2-636E38CA146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F21AB0F-A112-4C7A-8C9A-91241113B353}" type="presOf" srcId="{5C6FF7F7-7237-4E68-A5B5-28EA24B3E134}" destId="{25919BB5-DDB6-4F89-B7A8-B738A512564A}" srcOrd="0" destOrd="0" presId="urn:microsoft.com/office/officeart/2018/5/layout/IconCircleLabelList"/>
    <dgm:cxn modelId="{3EBAEB14-8585-40EF-8CF8-92DB0DE08FAB}" srcId="{1C7F58F3-25ED-4718-B67A-894024871C1D}" destId="{9B750CEC-F2CD-4BF0-9DA9-D32357E7B4FC}" srcOrd="2" destOrd="0" parTransId="{FE75DE5E-E1A6-476D-859F-0853E1860B06}" sibTransId="{45C69B5A-26B1-4453-8022-28E106788755}"/>
    <dgm:cxn modelId="{56026E3B-006D-432C-8EC2-DC518D8082AB}" type="presOf" srcId="{9B750CEC-F2CD-4BF0-9DA9-D32357E7B4FC}" destId="{E744FB7C-92FB-49B7-97B0-1B6659D2466E}" srcOrd="0" destOrd="0" presId="urn:microsoft.com/office/officeart/2018/5/layout/IconCircleLabelList"/>
    <dgm:cxn modelId="{18A17E4D-7320-4F3D-BA8F-D4B8E1537316}" type="presOf" srcId="{4EAD1363-9B8F-4E0D-BF3B-D355AC0FED1F}" destId="{CADDA78F-E1BD-4166-AE64-86C5E8644922}" srcOrd="0" destOrd="0" presId="urn:microsoft.com/office/officeart/2018/5/layout/IconCircleLabelList"/>
    <dgm:cxn modelId="{AD1CB68D-DA2C-4AD8-9B81-1AC599FE3D05}" type="presOf" srcId="{1C7F58F3-25ED-4718-B67A-894024871C1D}" destId="{BF71ADCC-628B-4066-A3C3-5908C52E0AA8}" srcOrd="0" destOrd="0" presId="urn:microsoft.com/office/officeart/2018/5/layout/IconCircleLabelList"/>
    <dgm:cxn modelId="{CB7873B8-C66D-487F-A2E5-F4A689353E01}" type="presOf" srcId="{5DCD36E5-F939-4518-80B2-636E38CA146F}" destId="{D7808317-BCA0-40FB-A9DB-4A5B096AFED5}" srcOrd="0" destOrd="0" presId="urn:microsoft.com/office/officeart/2018/5/layout/IconCircleLabelList"/>
    <dgm:cxn modelId="{47EACBCE-8D2E-4545-87D2-C6D1DEE57D8E}" srcId="{1C7F58F3-25ED-4718-B67A-894024871C1D}" destId="{5C6FF7F7-7237-4E68-A5B5-28EA24B3E134}" srcOrd="0" destOrd="0" parTransId="{C6BCB863-B399-4B59-96AB-B12771534F72}" sibTransId="{40C5EE2A-DF93-4159-BCE2-BBE373FA1F54}"/>
    <dgm:cxn modelId="{FF1E4DF4-A908-49A3-9D12-18FA189BB36A}" srcId="{1C7F58F3-25ED-4718-B67A-894024871C1D}" destId="{4EAD1363-9B8F-4E0D-BF3B-D355AC0FED1F}" srcOrd="1" destOrd="0" parTransId="{7CF46BD7-0B3B-4169-A946-F4237D8F54B5}" sibTransId="{F9BEB7E7-56F0-4A13-8160-4DEAA2536DAC}"/>
    <dgm:cxn modelId="{B6616BF7-EBDD-417B-BD72-0660C591D3B8}" srcId="{1C7F58F3-25ED-4718-B67A-894024871C1D}" destId="{5DCD36E5-F939-4518-80B2-636E38CA146F}" srcOrd="3" destOrd="0" parTransId="{6DE8EA9C-245B-40E5-8E41-8E8ED5024B4E}" sibTransId="{6CB07D94-9930-443D-8CFC-A216B9BA3519}"/>
    <dgm:cxn modelId="{6E8C6178-68BB-433D-BEC7-2F057EE60C80}" type="presParOf" srcId="{BF71ADCC-628B-4066-A3C3-5908C52E0AA8}" destId="{F90E79DB-AC4A-434B-869E-2D8F21A631B1}" srcOrd="0" destOrd="0" presId="urn:microsoft.com/office/officeart/2018/5/layout/IconCircleLabelList"/>
    <dgm:cxn modelId="{B7DD05B9-8D90-4D63-80E2-7F234B79831D}" type="presParOf" srcId="{F90E79DB-AC4A-434B-869E-2D8F21A631B1}" destId="{2F18B07F-296C-4054-B86A-B79E5274238B}" srcOrd="0" destOrd="0" presId="urn:microsoft.com/office/officeart/2018/5/layout/IconCircleLabelList"/>
    <dgm:cxn modelId="{2521AA85-4788-41E7-A8A2-D1457974B94E}" type="presParOf" srcId="{F90E79DB-AC4A-434B-869E-2D8F21A631B1}" destId="{77ECD48C-6BFD-435F-961D-9747D27F38A0}" srcOrd="1" destOrd="0" presId="urn:microsoft.com/office/officeart/2018/5/layout/IconCircleLabelList"/>
    <dgm:cxn modelId="{210C2C99-60EC-4C24-8A3A-39FB0FE17ED9}" type="presParOf" srcId="{F90E79DB-AC4A-434B-869E-2D8F21A631B1}" destId="{6D1228E8-3B9B-4A32-84DE-A89F33FA3903}" srcOrd="2" destOrd="0" presId="urn:microsoft.com/office/officeart/2018/5/layout/IconCircleLabelList"/>
    <dgm:cxn modelId="{0D848B72-D352-4557-8585-C3E49C8DE83E}" type="presParOf" srcId="{F90E79DB-AC4A-434B-869E-2D8F21A631B1}" destId="{25919BB5-DDB6-4F89-B7A8-B738A512564A}" srcOrd="3" destOrd="0" presId="urn:microsoft.com/office/officeart/2018/5/layout/IconCircleLabelList"/>
    <dgm:cxn modelId="{0CFE756C-58A2-4D4B-8718-107FB2F913AA}" type="presParOf" srcId="{BF71ADCC-628B-4066-A3C3-5908C52E0AA8}" destId="{BCC7EF40-29A1-47B2-ACE6-EE3E112AECFD}" srcOrd="1" destOrd="0" presId="urn:microsoft.com/office/officeart/2018/5/layout/IconCircleLabelList"/>
    <dgm:cxn modelId="{331DA26A-0437-4E05-9194-9878DFB10BBC}" type="presParOf" srcId="{BF71ADCC-628B-4066-A3C3-5908C52E0AA8}" destId="{650F975F-F3E6-478E-8097-4AB89CC32AC8}" srcOrd="2" destOrd="0" presId="urn:microsoft.com/office/officeart/2018/5/layout/IconCircleLabelList"/>
    <dgm:cxn modelId="{A501D8A3-B379-46B5-94D8-3D08C52BEFE8}" type="presParOf" srcId="{650F975F-F3E6-478E-8097-4AB89CC32AC8}" destId="{47A96CE9-5FC3-40FF-9501-1998277D6A09}" srcOrd="0" destOrd="0" presId="urn:microsoft.com/office/officeart/2018/5/layout/IconCircleLabelList"/>
    <dgm:cxn modelId="{E36B1385-B5B4-42A0-A83A-25E04165445B}" type="presParOf" srcId="{650F975F-F3E6-478E-8097-4AB89CC32AC8}" destId="{7453188B-2500-48B2-986E-F1AEE772EE40}" srcOrd="1" destOrd="0" presId="urn:microsoft.com/office/officeart/2018/5/layout/IconCircleLabelList"/>
    <dgm:cxn modelId="{5CFAE929-FF2B-4446-B58E-5BA9E1FBBE20}" type="presParOf" srcId="{650F975F-F3E6-478E-8097-4AB89CC32AC8}" destId="{C8308E25-732B-4CB7-A87C-DA6000808D21}" srcOrd="2" destOrd="0" presId="urn:microsoft.com/office/officeart/2018/5/layout/IconCircleLabelList"/>
    <dgm:cxn modelId="{46DBB625-BA00-4946-9698-BE76BE15FB3C}" type="presParOf" srcId="{650F975F-F3E6-478E-8097-4AB89CC32AC8}" destId="{CADDA78F-E1BD-4166-AE64-86C5E8644922}" srcOrd="3" destOrd="0" presId="urn:microsoft.com/office/officeart/2018/5/layout/IconCircleLabelList"/>
    <dgm:cxn modelId="{013E17AB-4EE5-4673-AEE4-A18BFEF3F604}" type="presParOf" srcId="{BF71ADCC-628B-4066-A3C3-5908C52E0AA8}" destId="{B4F4C3FA-41F9-482C-A149-86B3286DC6ED}" srcOrd="3" destOrd="0" presId="urn:microsoft.com/office/officeart/2018/5/layout/IconCircleLabelList"/>
    <dgm:cxn modelId="{C1AD1514-AA85-4C00-9046-1638B1DA1AEC}" type="presParOf" srcId="{BF71ADCC-628B-4066-A3C3-5908C52E0AA8}" destId="{A62555F0-0F97-4C16-9F98-AE1E030087FA}" srcOrd="4" destOrd="0" presId="urn:microsoft.com/office/officeart/2018/5/layout/IconCircleLabelList"/>
    <dgm:cxn modelId="{4CBE3545-EB83-4DE3-8C3F-AB8D74B63503}" type="presParOf" srcId="{A62555F0-0F97-4C16-9F98-AE1E030087FA}" destId="{BAB03018-15E7-446F-B897-A1F68ED969A5}" srcOrd="0" destOrd="0" presId="urn:microsoft.com/office/officeart/2018/5/layout/IconCircleLabelList"/>
    <dgm:cxn modelId="{730675C8-F9E1-4CCB-B983-1858782BCEFD}" type="presParOf" srcId="{A62555F0-0F97-4C16-9F98-AE1E030087FA}" destId="{F774D81B-F617-4002-90DC-E760D1EC5522}" srcOrd="1" destOrd="0" presId="urn:microsoft.com/office/officeart/2018/5/layout/IconCircleLabelList"/>
    <dgm:cxn modelId="{95DE132F-9647-418B-96A4-EB5CD4E8DDC8}" type="presParOf" srcId="{A62555F0-0F97-4C16-9F98-AE1E030087FA}" destId="{010DC4BC-2075-4325-8F6B-89C89A03CDE9}" srcOrd="2" destOrd="0" presId="urn:microsoft.com/office/officeart/2018/5/layout/IconCircleLabelList"/>
    <dgm:cxn modelId="{6D1E2924-CF03-411F-B610-12CC3D03DBE6}" type="presParOf" srcId="{A62555F0-0F97-4C16-9F98-AE1E030087FA}" destId="{E744FB7C-92FB-49B7-97B0-1B6659D2466E}" srcOrd="3" destOrd="0" presId="urn:microsoft.com/office/officeart/2018/5/layout/IconCircleLabelList"/>
    <dgm:cxn modelId="{1AB1134B-35CE-4269-8830-7FF77F6ECF04}" type="presParOf" srcId="{BF71ADCC-628B-4066-A3C3-5908C52E0AA8}" destId="{1F832C60-B306-44D7-9C42-F8DA0354086B}" srcOrd="5" destOrd="0" presId="urn:microsoft.com/office/officeart/2018/5/layout/IconCircleLabelList"/>
    <dgm:cxn modelId="{8880BF9D-BEB6-4FB3-B85C-ED21F8ACC55B}" type="presParOf" srcId="{BF71ADCC-628B-4066-A3C3-5908C52E0AA8}" destId="{2194209E-9C06-4BD9-B13E-60C174F0EDB7}" srcOrd="6" destOrd="0" presId="urn:microsoft.com/office/officeart/2018/5/layout/IconCircleLabelList"/>
    <dgm:cxn modelId="{014A13E1-5538-4605-947B-07814487DEAF}" type="presParOf" srcId="{2194209E-9C06-4BD9-B13E-60C174F0EDB7}" destId="{56DEA28E-8DB9-44D6-B7E8-4A38A3A5D10C}" srcOrd="0" destOrd="0" presId="urn:microsoft.com/office/officeart/2018/5/layout/IconCircleLabelList"/>
    <dgm:cxn modelId="{135E84D0-8B94-40ED-96E3-7B77B90CC545}" type="presParOf" srcId="{2194209E-9C06-4BD9-B13E-60C174F0EDB7}" destId="{58D9748E-A29A-4CFC-AD55-813DE37F0757}" srcOrd="1" destOrd="0" presId="urn:microsoft.com/office/officeart/2018/5/layout/IconCircleLabelList"/>
    <dgm:cxn modelId="{F6B2DD5B-F7F0-4363-917C-982C70AAB525}" type="presParOf" srcId="{2194209E-9C06-4BD9-B13E-60C174F0EDB7}" destId="{B1BB71AE-A7C3-49A1-B263-8F6F1593B0F2}" srcOrd="2" destOrd="0" presId="urn:microsoft.com/office/officeart/2018/5/layout/IconCircleLabelList"/>
    <dgm:cxn modelId="{E26F3CDE-734A-4E77-93EF-0319CFDF4455}" type="presParOf" srcId="{2194209E-9C06-4BD9-B13E-60C174F0EDB7}" destId="{D7808317-BCA0-40FB-A9DB-4A5B096AFE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3DC130-11CF-4AD8-8D1B-8F13E3F2EEF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11FA665-177F-4A2B-91E6-ADFD38F6B5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Identify key factors influencing housing prices</a:t>
          </a:r>
        </a:p>
      </dgm:t>
    </dgm:pt>
    <dgm:pt modelId="{4DA79B16-40C7-47BF-BC56-1AD1284ECFDF}" type="parTrans" cxnId="{1EEEBC16-DAAE-4DA2-9046-210FCC950EF7}">
      <dgm:prSet/>
      <dgm:spPr/>
      <dgm:t>
        <a:bodyPr/>
        <a:lstStyle/>
        <a:p>
          <a:endParaRPr lang="en-US"/>
        </a:p>
      </dgm:t>
    </dgm:pt>
    <dgm:pt modelId="{21AAEDFE-65AB-4C4B-8631-1818FE9E8CB4}" type="sibTrans" cxnId="{1EEEBC16-DAAE-4DA2-9046-210FCC950E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E7C131-F4F5-48C2-B55C-A2E92FF77E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Quantify neighborhood effects beyond structural characteristics</a:t>
          </a:r>
        </a:p>
      </dgm:t>
    </dgm:pt>
    <dgm:pt modelId="{3A1BA3D0-469B-4963-ADBF-330B0160A4E2}" type="parTrans" cxnId="{09D5A50C-FCA1-42A5-81B0-5C4E17EF6364}">
      <dgm:prSet/>
      <dgm:spPr/>
      <dgm:t>
        <a:bodyPr/>
        <a:lstStyle/>
        <a:p>
          <a:endParaRPr lang="en-US"/>
        </a:p>
      </dgm:t>
    </dgm:pt>
    <dgm:pt modelId="{F31CC6F5-3551-42A3-95F1-00617EE60ACC}" type="sibTrans" cxnId="{09D5A50C-FCA1-42A5-81B0-5C4E17EF63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788172-6535-4B0E-B83B-55D7FF6577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Classify homes as selling </a:t>
          </a:r>
          <a:r>
            <a:rPr lang="en-US" b="1"/>
            <a:t>above</a:t>
          </a:r>
          <a:r>
            <a:rPr lang="en-US"/>
            <a:t> or </a:t>
          </a:r>
          <a:r>
            <a:rPr lang="en-US" b="1"/>
            <a:t>below</a:t>
          </a:r>
          <a:r>
            <a:rPr lang="en-US"/>
            <a:t> expected value</a:t>
          </a:r>
        </a:p>
      </dgm:t>
    </dgm:pt>
    <dgm:pt modelId="{62E0DD7F-B4B1-4CFE-A32A-C1B12947310A}" type="parTrans" cxnId="{C167CD2D-8607-4F40-89B5-D6A78C91712E}">
      <dgm:prSet/>
      <dgm:spPr/>
      <dgm:t>
        <a:bodyPr/>
        <a:lstStyle/>
        <a:p>
          <a:endParaRPr lang="en-US"/>
        </a:p>
      </dgm:t>
    </dgm:pt>
    <dgm:pt modelId="{ADA60A20-84CD-4EBA-8F19-8412E3031A04}" type="sibTrans" cxnId="{C167CD2D-8607-4F40-89B5-D6A78C91712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16DC52-E591-4C0C-8790-9A7B421D2C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Assess model uncertainty using nonparametric bootstrap methods</a:t>
          </a:r>
        </a:p>
      </dgm:t>
    </dgm:pt>
    <dgm:pt modelId="{04760A0A-3B92-4D1E-B8F9-9C7C8B5D79A7}" type="parTrans" cxnId="{14E311B2-2E45-494E-818A-9712DDD5B81B}">
      <dgm:prSet/>
      <dgm:spPr/>
      <dgm:t>
        <a:bodyPr/>
        <a:lstStyle/>
        <a:p>
          <a:endParaRPr lang="en-US"/>
        </a:p>
      </dgm:t>
    </dgm:pt>
    <dgm:pt modelId="{0C87347F-B1BD-4B60-ABDF-BCD3A63E3AF8}" type="sibTrans" cxnId="{14E311B2-2E45-494E-818A-9712DDD5B81B}">
      <dgm:prSet/>
      <dgm:spPr/>
      <dgm:t>
        <a:bodyPr/>
        <a:lstStyle/>
        <a:p>
          <a:endParaRPr lang="en-US"/>
        </a:p>
      </dgm:t>
    </dgm:pt>
    <dgm:pt modelId="{9C569AE1-94DB-4353-B3FC-6960A764D5A5}" type="pres">
      <dgm:prSet presAssocID="{2F3DC130-11CF-4AD8-8D1B-8F13E3F2EEFA}" presName="root" presStyleCnt="0">
        <dgm:presLayoutVars>
          <dgm:dir/>
          <dgm:resizeHandles val="exact"/>
        </dgm:presLayoutVars>
      </dgm:prSet>
      <dgm:spPr/>
    </dgm:pt>
    <dgm:pt modelId="{D10D1A27-9C95-4B6F-A0B8-25D20FD2139B}" type="pres">
      <dgm:prSet presAssocID="{2F3DC130-11CF-4AD8-8D1B-8F13E3F2EEFA}" presName="container" presStyleCnt="0">
        <dgm:presLayoutVars>
          <dgm:dir/>
          <dgm:resizeHandles val="exact"/>
        </dgm:presLayoutVars>
      </dgm:prSet>
      <dgm:spPr/>
    </dgm:pt>
    <dgm:pt modelId="{63B848A8-EFA4-4587-9C2C-284501701279}" type="pres">
      <dgm:prSet presAssocID="{311FA665-177F-4A2B-91E6-ADFD38F6B553}" presName="compNode" presStyleCnt="0"/>
      <dgm:spPr/>
    </dgm:pt>
    <dgm:pt modelId="{8958F4DB-28AC-4F58-A051-2D6F27013117}" type="pres">
      <dgm:prSet presAssocID="{311FA665-177F-4A2B-91E6-ADFD38F6B553}" presName="iconBgRect" presStyleLbl="bgShp" presStyleIdx="0" presStyleCnt="4"/>
      <dgm:spPr/>
    </dgm:pt>
    <dgm:pt modelId="{22A5D017-620A-4D63-AD5B-958A29279A06}" type="pres">
      <dgm:prSet presAssocID="{311FA665-177F-4A2B-91E6-ADFD38F6B55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674DCD6F-6B85-4AC6-B60A-06F18646039B}" type="pres">
      <dgm:prSet presAssocID="{311FA665-177F-4A2B-91E6-ADFD38F6B553}" presName="spaceRect" presStyleCnt="0"/>
      <dgm:spPr/>
    </dgm:pt>
    <dgm:pt modelId="{80E1EF58-A697-4304-96F2-629BD3B17D2A}" type="pres">
      <dgm:prSet presAssocID="{311FA665-177F-4A2B-91E6-ADFD38F6B553}" presName="textRect" presStyleLbl="revTx" presStyleIdx="0" presStyleCnt="4">
        <dgm:presLayoutVars>
          <dgm:chMax val="1"/>
          <dgm:chPref val="1"/>
        </dgm:presLayoutVars>
      </dgm:prSet>
      <dgm:spPr/>
    </dgm:pt>
    <dgm:pt modelId="{A8030F68-9A0C-4456-A485-9E20550F904B}" type="pres">
      <dgm:prSet presAssocID="{21AAEDFE-65AB-4C4B-8631-1818FE9E8CB4}" presName="sibTrans" presStyleLbl="sibTrans2D1" presStyleIdx="0" presStyleCnt="0"/>
      <dgm:spPr/>
    </dgm:pt>
    <dgm:pt modelId="{1AE0CC36-A794-4D5C-A1A1-E7F51E6BA893}" type="pres">
      <dgm:prSet presAssocID="{3DE7C131-F4F5-48C2-B55C-A2E92FF77E46}" presName="compNode" presStyleCnt="0"/>
      <dgm:spPr/>
    </dgm:pt>
    <dgm:pt modelId="{731E0122-A9E0-437B-A8C8-2D272B3A9AA6}" type="pres">
      <dgm:prSet presAssocID="{3DE7C131-F4F5-48C2-B55C-A2E92FF77E46}" presName="iconBgRect" presStyleLbl="bgShp" presStyleIdx="1" presStyleCnt="4"/>
      <dgm:spPr/>
    </dgm:pt>
    <dgm:pt modelId="{28A7BF25-E651-4002-A5B7-F1D59ACAF930}" type="pres">
      <dgm:prSet presAssocID="{3DE7C131-F4F5-48C2-B55C-A2E92FF77E4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8B5001FD-72AA-4192-8F52-42506A0B7569}" type="pres">
      <dgm:prSet presAssocID="{3DE7C131-F4F5-48C2-B55C-A2E92FF77E46}" presName="spaceRect" presStyleCnt="0"/>
      <dgm:spPr/>
    </dgm:pt>
    <dgm:pt modelId="{B35964EB-48D6-4473-9680-B3A1A101D87A}" type="pres">
      <dgm:prSet presAssocID="{3DE7C131-F4F5-48C2-B55C-A2E92FF77E46}" presName="textRect" presStyleLbl="revTx" presStyleIdx="1" presStyleCnt="4">
        <dgm:presLayoutVars>
          <dgm:chMax val="1"/>
          <dgm:chPref val="1"/>
        </dgm:presLayoutVars>
      </dgm:prSet>
      <dgm:spPr/>
    </dgm:pt>
    <dgm:pt modelId="{21D923D8-0BD3-497B-BD0D-1AB832F7782F}" type="pres">
      <dgm:prSet presAssocID="{F31CC6F5-3551-42A3-95F1-00617EE60ACC}" presName="sibTrans" presStyleLbl="sibTrans2D1" presStyleIdx="0" presStyleCnt="0"/>
      <dgm:spPr/>
    </dgm:pt>
    <dgm:pt modelId="{55693A32-FBC1-4749-B489-8129A555335C}" type="pres">
      <dgm:prSet presAssocID="{17788172-6535-4B0E-B83B-55D7FF6577ED}" presName="compNode" presStyleCnt="0"/>
      <dgm:spPr/>
    </dgm:pt>
    <dgm:pt modelId="{CBC8DF8F-60F6-4A5C-B2E6-F27E3388B514}" type="pres">
      <dgm:prSet presAssocID="{17788172-6535-4B0E-B83B-55D7FF6577ED}" presName="iconBgRect" presStyleLbl="bgShp" presStyleIdx="2" presStyleCnt="4"/>
      <dgm:spPr/>
    </dgm:pt>
    <dgm:pt modelId="{E7F57AA6-EB03-4C53-BA9C-1FDC80C637EE}" type="pres">
      <dgm:prSet presAssocID="{17788172-6535-4B0E-B83B-55D7FF6577E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C2B425E9-D111-4FCA-BC80-E685650EE75A}" type="pres">
      <dgm:prSet presAssocID="{17788172-6535-4B0E-B83B-55D7FF6577ED}" presName="spaceRect" presStyleCnt="0"/>
      <dgm:spPr/>
    </dgm:pt>
    <dgm:pt modelId="{657C224D-2D3D-4441-B3DF-C5F05F68F201}" type="pres">
      <dgm:prSet presAssocID="{17788172-6535-4B0E-B83B-55D7FF6577ED}" presName="textRect" presStyleLbl="revTx" presStyleIdx="2" presStyleCnt="4">
        <dgm:presLayoutVars>
          <dgm:chMax val="1"/>
          <dgm:chPref val="1"/>
        </dgm:presLayoutVars>
      </dgm:prSet>
      <dgm:spPr/>
    </dgm:pt>
    <dgm:pt modelId="{F3919BDD-AEBD-4426-B13F-F8748F56456D}" type="pres">
      <dgm:prSet presAssocID="{ADA60A20-84CD-4EBA-8F19-8412E3031A04}" presName="sibTrans" presStyleLbl="sibTrans2D1" presStyleIdx="0" presStyleCnt="0"/>
      <dgm:spPr/>
    </dgm:pt>
    <dgm:pt modelId="{B4BD77E6-F391-4511-AD33-D429DBB7F78C}" type="pres">
      <dgm:prSet presAssocID="{4F16DC52-E591-4C0C-8790-9A7B421D2C65}" presName="compNode" presStyleCnt="0"/>
      <dgm:spPr/>
    </dgm:pt>
    <dgm:pt modelId="{B2E4DE86-A732-46FB-9AFB-CE1C0F24CAD3}" type="pres">
      <dgm:prSet presAssocID="{4F16DC52-E591-4C0C-8790-9A7B421D2C65}" presName="iconBgRect" presStyleLbl="bgShp" presStyleIdx="3" presStyleCnt="4"/>
      <dgm:spPr/>
    </dgm:pt>
    <dgm:pt modelId="{42C38140-EEF2-4DD4-85F5-40BB9CE0B46A}" type="pres">
      <dgm:prSet presAssocID="{4F16DC52-E591-4C0C-8790-9A7B421D2C6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B3B8B611-7F80-4D09-ADDA-626BBAB5E3E7}" type="pres">
      <dgm:prSet presAssocID="{4F16DC52-E591-4C0C-8790-9A7B421D2C65}" presName="spaceRect" presStyleCnt="0"/>
      <dgm:spPr/>
    </dgm:pt>
    <dgm:pt modelId="{EE180F4A-AF23-4DC1-8E51-9E21D3A5A0A5}" type="pres">
      <dgm:prSet presAssocID="{4F16DC52-E591-4C0C-8790-9A7B421D2C6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9D5A50C-FCA1-42A5-81B0-5C4E17EF6364}" srcId="{2F3DC130-11CF-4AD8-8D1B-8F13E3F2EEFA}" destId="{3DE7C131-F4F5-48C2-B55C-A2E92FF77E46}" srcOrd="1" destOrd="0" parTransId="{3A1BA3D0-469B-4963-ADBF-330B0160A4E2}" sibTransId="{F31CC6F5-3551-42A3-95F1-00617EE60ACC}"/>
    <dgm:cxn modelId="{1EEEBC16-DAAE-4DA2-9046-210FCC950EF7}" srcId="{2F3DC130-11CF-4AD8-8D1B-8F13E3F2EEFA}" destId="{311FA665-177F-4A2B-91E6-ADFD38F6B553}" srcOrd="0" destOrd="0" parTransId="{4DA79B16-40C7-47BF-BC56-1AD1284ECFDF}" sibTransId="{21AAEDFE-65AB-4C4B-8631-1818FE9E8CB4}"/>
    <dgm:cxn modelId="{8C95681D-0097-4FB2-8D49-6FEFEC985317}" type="presOf" srcId="{F31CC6F5-3551-42A3-95F1-00617EE60ACC}" destId="{21D923D8-0BD3-497B-BD0D-1AB832F7782F}" srcOrd="0" destOrd="0" presId="urn:microsoft.com/office/officeart/2018/2/layout/IconCircleList"/>
    <dgm:cxn modelId="{C167CD2D-8607-4F40-89B5-D6A78C91712E}" srcId="{2F3DC130-11CF-4AD8-8D1B-8F13E3F2EEFA}" destId="{17788172-6535-4B0E-B83B-55D7FF6577ED}" srcOrd="2" destOrd="0" parTransId="{62E0DD7F-B4B1-4CFE-A32A-C1B12947310A}" sibTransId="{ADA60A20-84CD-4EBA-8F19-8412E3031A04}"/>
    <dgm:cxn modelId="{B1E47541-0CC9-452B-A909-8238D46B13DB}" type="presOf" srcId="{311FA665-177F-4A2B-91E6-ADFD38F6B553}" destId="{80E1EF58-A697-4304-96F2-629BD3B17D2A}" srcOrd="0" destOrd="0" presId="urn:microsoft.com/office/officeart/2018/2/layout/IconCircleList"/>
    <dgm:cxn modelId="{3EB1DF45-138B-46A0-B57F-6E6E61537184}" type="presOf" srcId="{ADA60A20-84CD-4EBA-8F19-8412E3031A04}" destId="{F3919BDD-AEBD-4426-B13F-F8748F56456D}" srcOrd="0" destOrd="0" presId="urn:microsoft.com/office/officeart/2018/2/layout/IconCircleList"/>
    <dgm:cxn modelId="{B643E04B-2377-4863-B6E7-4089E17D0116}" type="presOf" srcId="{21AAEDFE-65AB-4C4B-8631-1818FE9E8CB4}" destId="{A8030F68-9A0C-4456-A485-9E20550F904B}" srcOrd="0" destOrd="0" presId="urn:microsoft.com/office/officeart/2018/2/layout/IconCircleList"/>
    <dgm:cxn modelId="{FF7AA97B-891A-4A6E-B61C-5D975B47312D}" type="presOf" srcId="{17788172-6535-4B0E-B83B-55D7FF6577ED}" destId="{657C224D-2D3D-4441-B3DF-C5F05F68F201}" srcOrd="0" destOrd="0" presId="urn:microsoft.com/office/officeart/2018/2/layout/IconCircleList"/>
    <dgm:cxn modelId="{CD6E6EA4-1A76-4AE8-8F7A-CE1404AAB4DE}" type="presOf" srcId="{4F16DC52-E591-4C0C-8790-9A7B421D2C65}" destId="{EE180F4A-AF23-4DC1-8E51-9E21D3A5A0A5}" srcOrd="0" destOrd="0" presId="urn:microsoft.com/office/officeart/2018/2/layout/IconCircleList"/>
    <dgm:cxn modelId="{14E311B2-2E45-494E-818A-9712DDD5B81B}" srcId="{2F3DC130-11CF-4AD8-8D1B-8F13E3F2EEFA}" destId="{4F16DC52-E591-4C0C-8790-9A7B421D2C65}" srcOrd="3" destOrd="0" parTransId="{04760A0A-3B92-4D1E-B8F9-9C7C8B5D79A7}" sibTransId="{0C87347F-B1BD-4B60-ABDF-BCD3A63E3AF8}"/>
    <dgm:cxn modelId="{88F52EBA-8C10-49A2-BD45-1BFF5DCE6C88}" type="presOf" srcId="{3DE7C131-F4F5-48C2-B55C-A2E92FF77E46}" destId="{B35964EB-48D6-4473-9680-B3A1A101D87A}" srcOrd="0" destOrd="0" presId="urn:microsoft.com/office/officeart/2018/2/layout/IconCircleList"/>
    <dgm:cxn modelId="{8BCF83BB-D8FD-44CD-B21F-AC88CE2B320D}" type="presOf" srcId="{2F3DC130-11CF-4AD8-8D1B-8F13E3F2EEFA}" destId="{9C569AE1-94DB-4353-B3FC-6960A764D5A5}" srcOrd="0" destOrd="0" presId="urn:microsoft.com/office/officeart/2018/2/layout/IconCircleList"/>
    <dgm:cxn modelId="{0B85A5AE-BD76-4226-A1FF-81D2A92688FB}" type="presParOf" srcId="{9C569AE1-94DB-4353-B3FC-6960A764D5A5}" destId="{D10D1A27-9C95-4B6F-A0B8-25D20FD2139B}" srcOrd="0" destOrd="0" presId="urn:microsoft.com/office/officeart/2018/2/layout/IconCircleList"/>
    <dgm:cxn modelId="{DA840AC6-FF2B-44D8-B4BC-092553CE0884}" type="presParOf" srcId="{D10D1A27-9C95-4B6F-A0B8-25D20FD2139B}" destId="{63B848A8-EFA4-4587-9C2C-284501701279}" srcOrd="0" destOrd="0" presId="urn:microsoft.com/office/officeart/2018/2/layout/IconCircleList"/>
    <dgm:cxn modelId="{98B8E4AB-229F-4539-A439-2A74913EE7A2}" type="presParOf" srcId="{63B848A8-EFA4-4587-9C2C-284501701279}" destId="{8958F4DB-28AC-4F58-A051-2D6F27013117}" srcOrd="0" destOrd="0" presId="urn:microsoft.com/office/officeart/2018/2/layout/IconCircleList"/>
    <dgm:cxn modelId="{BE95ECBA-5882-4271-ADCF-A4A11463609F}" type="presParOf" srcId="{63B848A8-EFA4-4587-9C2C-284501701279}" destId="{22A5D017-620A-4D63-AD5B-958A29279A06}" srcOrd="1" destOrd="0" presId="urn:microsoft.com/office/officeart/2018/2/layout/IconCircleList"/>
    <dgm:cxn modelId="{3F089829-2B04-4012-AB40-BF4CCC236F7A}" type="presParOf" srcId="{63B848A8-EFA4-4587-9C2C-284501701279}" destId="{674DCD6F-6B85-4AC6-B60A-06F18646039B}" srcOrd="2" destOrd="0" presId="urn:microsoft.com/office/officeart/2018/2/layout/IconCircleList"/>
    <dgm:cxn modelId="{97AA44A0-F349-4057-A00B-41B7D157370F}" type="presParOf" srcId="{63B848A8-EFA4-4587-9C2C-284501701279}" destId="{80E1EF58-A697-4304-96F2-629BD3B17D2A}" srcOrd="3" destOrd="0" presId="urn:microsoft.com/office/officeart/2018/2/layout/IconCircleList"/>
    <dgm:cxn modelId="{2060008F-EA2F-462C-996D-704D0A95A0FC}" type="presParOf" srcId="{D10D1A27-9C95-4B6F-A0B8-25D20FD2139B}" destId="{A8030F68-9A0C-4456-A485-9E20550F904B}" srcOrd="1" destOrd="0" presId="urn:microsoft.com/office/officeart/2018/2/layout/IconCircleList"/>
    <dgm:cxn modelId="{AB597B39-2AC0-4491-8EC2-3143DFB271C1}" type="presParOf" srcId="{D10D1A27-9C95-4B6F-A0B8-25D20FD2139B}" destId="{1AE0CC36-A794-4D5C-A1A1-E7F51E6BA893}" srcOrd="2" destOrd="0" presId="urn:microsoft.com/office/officeart/2018/2/layout/IconCircleList"/>
    <dgm:cxn modelId="{91C8172D-3272-42C4-A00E-F9819388992E}" type="presParOf" srcId="{1AE0CC36-A794-4D5C-A1A1-E7F51E6BA893}" destId="{731E0122-A9E0-437B-A8C8-2D272B3A9AA6}" srcOrd="0" destOrd="0" presId="urn:microsoft.com/office/officeart/2018/2/layout/IconCircleList"/>
    <dgm:cxn modelId="{55A70F45-91EC-4F70-887B-6FBA04953BFE}" type="presParOf" srcId="{1AE0CC36-A794-4D5C-A1A1-E7F51E6BA893}" destId="{28A7BF25-E651-4002-A5B7-F1D59ACAF930}" srcOrd="1" destOrd="0" presId="urn:microsoft.com/office/officeart/2018/2/layout/IconCircleList"/>
    <dgm:cxn modelId="{3F3309AC-9ED9-4642-97AC-8D0042E849BD}" type="presParOf" srcId="{1AE0CC36-A794-4D5C-A1A1-E7F51E6BA893}" destId="{8B5001FD-72AA-4192-8F52-42506A0B7569}" srcOrd="2" destOrd="0" presId="urn:microsoft.com/office/officeart/2018/2/layout/IconCircleList"/>
    <dgm:cxn modelId="{99A093F7-660F-4BA5-9D6E-69D804C2CA3C}" type="presParOf" srcId="{1AE0CC36-A794-4D5C-A1A1-E7F51E6BA893}" destId="{B35964EB-48D6-4473-9680-B3A1A101D87A}" srcOrd="3" destOrd="0" presId="urn:microsoft.com/office/officeart/2018/2/layout/IconCircleList"/>
    <dgm:cxn modelId="{FAB4E3AB-7612-4EEA-B2DB-F3E842092994}" type="presParOf" srcId="{D10D1A27-9C95-4B6F-A0B8-25D20FD2139B}" destId="{21D923D8-0BD3-497B-BD0D-1AB832F7782F}" srcOrd="3" destOrd="0" presId="urn:microsoft.com/office/officeart/2018/2/layout/IconCircleList"/>
    <dgm:cxn modelId="{FED626C3-09B0-4B13-8981-EB35BCC5C5C9}" type="presParOf" srcId="{D10D1A27-9C95-4B6F-A0B8-25D20FD2139B}" destId="{55693A32-FBC1-4749-B489-8129A555335C}" srcOrd="4" destOrd="0" presId="urn:microsoft.com/office/officeart/2018/2/layout/IconCircleList"/>
    <dgm:cxn modelId="{75F7650C-4F8F-46FF-BC5A-F88C0926D782}" type="presParOf" srcId="{55693A32-FBC1-4749-B489-8129A555335C}" destId="{CBC8DF8F-60F6-4A5C-B2E6-F27E3388B514}" srcOrd="0" destOrd="0" presId="urn:microsoft.com/office/officeart/2018/2/layout/IconCircleList"/>
    <dgm:cxn modelId="{0F2584E6-DBB9-48C3-8128-D29075E47344}" type="presParOf" srcId="{55693A32-FBC1-4749-B489-8129A555335C}" destId="{E7F57AA6-EB03-4C53-BA9C-1FDC80C637EE}" srcOrd="1" destOrd="0" presId="urn:microsoft.com/office/officeart/2018/2/layout/IconCircleList"/>
    <dgm:cxn modelId="{12D4D702-7704-4713-A8C3-93F4943B1D32}" type="presParOf" srcId="{55693A32-FBC1-4749-B489-8129A555335C}" destId="{C2B425E9-D111-4FCA-BC80-E685650EE75A}" srcOrd="2" destOrd="0" presId="urn:microsoft.com/office/officeart/2018/2/layout/IconCircleList"/>
    <dgm:cxn modelId="{B8D189F0-BAA6-46AD-91DD-AB7D21A3B7AB}" type="presParOf" srcId="{55693A32-FBC1-4749-B489-8129A555335C}" destId="{657C224D-2D3D-4441-B3DF-C5F05F68F201}" srcOrd="3" destOrd="0" presId="urn:microsoft.com/office/officeart/2018/2/layout/IconCircleList"/>
    <dgm:cxn modelId="{027003D4-3632-4203-9C04-F88156110916}" type="presParOf" srcId="{D10D1A27-9C95-4B6F-A0B8-25D20FD2139B}" destId="{F3919BDD-AEBD-4426-B13F-F8748F56456D}" srcOrd="5" destOrd="0" presId="urn:microsoft.com/office/officeart/2018/2/layout/IconCircleList"/>
    <dgm:cxn modelId="{E9AE8C44-2E59-41A2-BFA1-BB38BE7075D0}" type="presParOf" srcId="{D10D1A27-9C95-4B6F-A0B8-25D20FD2139B}" destId="{B4BD77E6-F391-4511-AD33-D429DBB7F78C}" srcOrd="6" destOrd="0" presId="urn:microsoft.com/office/officeart/2018/2/layout/IconCircleList"/>
    <dgm:cxn modelId="{8EF1C414-229C-4C54-A921-49AB279359DA}" type="presParOf" srcId="{B4BD77E6-F391-4511-AD33-D429DBB7F78C}" destId="{B2E4DE86-A732-46FB-9AFB-CE1C0F24CAD3}" srcOrd="0" destOrd="0" presId="urn:microsoft.com/office/officeart/2018/2/layout/IconCircleList"/>
    <dgm:cxn modelId="{B9923CAA-F9AD-470D-AE8C-E28E7ECB0575}" type="presParOf" srcId="{B4BD77E6-F391-4511-AD33-D429DBB7F78C}" destId="{42C38140-EEF2-4DD4-85F5-40BB9CE0B46A}" srcOrd="1" destOrd="0" presId="urn:microsoft.com/office/officeart/2018/2/layout/IconCircleList"/>
    <dgm:cxn modelId="{33F5E739-E8E8-4A6D-96BB-4892FF815D46}" type="presParOf" srcId="{B4BD77E6-F391-4511-AD33-D429DBB7F78C}" destId="{B3B8B611-7F80-4D09-ADDA-626BBAB5E3E7}" srcOrd="2" destOrd="0" presId="urn:microsoft.com/office/officeart/2018/2/layout/IconCircleList"/>
    <dgm:cxn modelId="{50FA2C75-C50A-4803-9FC5-8D0383B4111F}" type="presParOf" srcId="{B4BD77E6-F391-4511-AD33-D429DBB7F78C}" destId="{EE180F4A-AF23-4DC1-8E51-9E21D3A5A0A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18B07F-296C-4054-B86A-B79E5274238B}">
      <dsp:nvSpPr>
        <dsp:cNvPr id="0" name=""/>
        <dsp:cNvSpPr/>
      </dsp:nvSpPr>
      <dsp:spPr>
        <a:xfrm>
          <a:off x="268773" y="422355"/>
          <a:ext cx="836367" cy="8363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ECD48C-6BFD-435F-961D-9747D27F38A0}">
      <dsp:nvSpPr>
        <dsp:cNvPr id="0" name=""/>
        <dsp:cNvSpPr/>
      </dsp:nvSpPr>
      <dsp:spPr>
        <a:xfrm>
          <a:off x="447015" y="600597"/>
          <a:ext cx="479882" cy="4798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919BB5-DDB6-4F89-B7A8-B738A512564A}">
      <dsp:nvSpPr>
        <dsp:cNvPr id="0" name=""/>
        <dsp:cNvSpPr/>
      </dsp:nvSpPr>
      <dsp:spPr>
        <a:xfrm>
          <a:off x="1409" y="151923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Housing prices reflect both </a:t>
          </a:r>
          <a:r>
            <a:rPr lang="en-US" sz="1100" b="1" kern="1200"/>
            <a:t>structural attributes</a:t>
          </a:r>
          <a:r>
            <a:rPr lang="en-US" sz="1100" kern="1200"/>
            <a:t> and </a:t>
          </a:r>
          <a:r>
            <a:rPr lang="en-US" sz="1100" b="1" kern="1200"/>
            <a:t>location effects</a:t>
          </a:r>
          <a:endParaRPr lang="en-US" sz="1100" kern="1200"/>
        </a:p>
      </dsp:txBody>
      <dsp:txXfrm>
        <a:off x="1409" y="1519230"/>
        <a:ext cx="1371093" cy="548437"/>
      </dsp:txXfrm>
    </dsp:sp>
    <dsp:sp modelId="{47A96CE9-5FC3-40FF-9501-1998277D6A09}">
      <dsp:nvSpPr>
        <dsp:cNvPr id="0" name=""/>
        <dsp:cNvSpPr/>
      </dsp:nvSpPr>
      <dsp:spPr>
        <a:xfrm>
          <a:off x="1879808" y="422355"/>
          <a:ext cx="836367" cy="8363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3188B-2500-48B2-986E-F1AEE772EE40}">
      <dsp:nvSpPr>
        <dsp:cNvPr id="0" name=""/>
        <dsp:cNvSpPr/>
      </dsp:nvSpPr>
      <dsp:spPr>
        <a:xfrm>
          <a:off x="2058050" y="600597"/>
          <a:ext cx="479882" cy="4798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DA78F-E1BD-4166-AE64-86C5E8644922}">
      <dsp:nvSpPr>
        <dsp:cNvPr id="0" name=""/>
        <dsp:cNvSpPr/>
      </dsp:nvSpPr>
      <dsp:spPr>
        <a:xfrm>
          <a:off x="1612445" y="151923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Understanding price drivers is critical for buyers, sellers, and investors</a:t>
          </a:r>
        </a:p>
      </dsp:txBody>
      <dsp:txXfrm>
        <a:off x="1612445" y="1519230"/>
        <a:ext cx="1371093" cy="548437"/>
      </dsp:txXfrm>
    </dsp:sp>
    <dsp:sp modelId="{BAB03018-15E7-446F-B897-A1F68ED969A5}">
      <dsp:nvSpPr>
        <dsp:cNvPr id="0" name=""/>
        <dsp:cNvSpPr/>
      </dsp:nvSpPr>
      <dsp:spPr>
        <a:xfrm>
          <a:off x="3490843" y="422355"/>
          <a:ext cx="836367" cy="8363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4D81B-F617-4002-90DC-E760D1EC5522}">
      <dsp:nvSpPr>
        <dsp:cNvPr id="0" name=""/>
        <dsp:cNvSpPr/>
      </dsp:nvSpPr>
      <dsp:spPr>
        <a:xfrm>
          <a:off x="3669085" y="600597"/>
          <a:ext cx="479882" cy="4798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4FB7C-92FB-49B7-97B0-1B6659D2466E}">
      <dsp:nvSpPr>
        <dsp:cNvPr id="0" name=""/>
        <dsp:cNvSpPr/>
      </dsp:nvSpPr>
      <dsp:spPr>
        <a:xfrm>
          <a:off x="3223480" y="151923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This project combines </a:t>
          </a:r>
          <a:r>
            <a:rPr lang="en-US" sz="1100" b="1" kern="1200"/>
            <a:t>explanatory</a:t>
          </a:r>
          <a:r>
            <a:rPr lang="en-US" sz="1100" kern="1200"/>
            <a:t> and </a:t>
          </a:r>
          <a:r>
            <a:rPr lang="en-US" sz="1100" b="1" kern="1200"/>
            <a:t>predictive</a:t>
          </a:r>
          <a:r>
            <a:rPr lang="en-US" sz="1100" kern="1200"/>
            <a:t> modeling approaches</a:t>
          </a:r>
        </a:p>
      </dsp:txBody>
      <dsp:txXfrm>
        <a:off x="3223480" y="1519230"/>
        <a:ext cx="1371093" cy="548437"/>
      </dsp:txXfrm>
    </dsp:sp>
    <dsp:sp modelId="{56DEA28E-8DB9-44D6-B7E8-4A38A3A5D10C}">
      <dsp:nvSpPr>
        <dsp:cNvPr id="0" name=""/>
        <dsp:cNvSpPr/>
      </dsp:nvSpPr>
      <dsp:spPr>
        <a:xfrm>
          <a:off x="5101878" y="422355"/>
          <a:ext cx="836367" cy="836367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D9748E-A29A-4CFC-AD55-813DE37F0757}">
      <dsp:nvSpPr>
        <dsp:cNvPr id="0" name=""/>
        <dsp:cNvSpPr/>
      </dsp:nvSpPr>
      <dsp:spPr>
        <a:xfrm>
          <a:off x="5280120" y="600597"/>
          <a:ext cx="479882" cy="47988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808317-BCA0-40FB-A9DB-4A5B096AFED5}">
      <dsp:nvSpPr>
        <dsp:cNvPr id="0" name=""/>
        <dsp:cNvSpPr/>
      </dsp:nvSpPr>
      <dsp:spPr>
        <a:xfrm>
          <a:off x="4834515" y="1519230"/>
          <a:ext cx="1371093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Methods used:</a:t>
          </a:r>
          <a:r>
            <a:rPr lang="en-US" sz="1100" kern="1200"/>
            <a:t> - ANOVA and OLS regression - Logistic regression - Bootstrap inference</a:t>
          </a:r>
        </a:p>
      </dsp:txBody>
      <dsp:txXfrm>
        <a:off x="4834515" y="1519230"/>
        <a:ext cx="1371093" cy="5484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58F4DB-28AC-4F58-A051-2D6F27013117}">
      <dsp:nvSpPr>
        <dsp:cNvPr id="0" name=""/>
        <dsp:cNvSpPr/>
      </dsp:nvSpPr>
      <dsp:spPr>
        <a:xfrm>
          <a:off x="16861" y="216091"/>
          <a:ext cx="817268" cy="8172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A5D017-620A-4D63-AD5B-958A29279A06}">
      <dsp:nvSpPr>
        <dsp:cNvPr id="0" name=""/>
        <dsp:cNvSpPr/>
      </dsp:nvSpPr>
      <dsp:spPr>
        <a:xfrm>
          <a:off x="188487" y="387717"/>
          <a:ext cx="474015" cy="4740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1EF58-A697-4304-96F2-629BD3B17D2A}">
      <dsp:nvSpPr>
        <dsp:cNvPr id="0" name=""/>
        <dsp:cNvSpPr/>
      </dsp:nvSpPr>
      <dsp:spPr>
        <a:xfrm>
          <a:off x="1009258" y="216091"/>
          <a:ext cx="1926418" cy="817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Identify key factors influencing housing prices</a:t>
          </a:r>
        </a:p>
      </dsp:txBody>
      <dsp:txXfrm>
        <a:off x="1009258" y="216091"/>
        <a:ext cx="1926418" cy="817268"/>
      </dsp:txXfrm>
    </dsp:sp>
    <dsp:sp modelId="{731E0122-A9E0-437B-A8C8-2D272B3A9AA6}">
      <dsp:nvSpPr>
        <dsp:cNvPr id="0" name=""/>
        <dsp:cNvSpPr/>
      </dsp:nvSpPr>
      <dsp:spPr>
        <a:xfrm>
          <a:off x="3271341" y="216091"/>
          <a:ext cx="817268" cy="8172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7BF25-E651-4002-A5B7-F1D59ACAF930}">
      <dsp:nvSpPr>
        <dsp:cNvPr id="0" name=""/>
        <dsp:cNvSpPr/>
      </dsp:nvSpPr>
      <dsp:spPr>
        <a:xfrm>
          <a:off x="3442967" y="387717"/>
          <a:ext cx="474015" cy="4740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5964EB-48D6-4473-9680-B3A1A101D87A}">
      <dsp:nvSpPr>
        <dsp:cNvPr id="0" name=""/>
        <dsp:cNvSpPr/>
      </dsp:nvSpPr>
      <dsp:spPr>
        <a:xfrm>
          <a:off x="4263738" y="216091"/>
          <a:ext cx="1926418" cy="817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Quantify neighborhood effects beyond structural characteristics</a:t>
          </a:r>
        </a:p>
      </dsp:txBody>
      <dsp:txXfrm>
        <a:off x="4263738" y="216091"/>
        <a:ext cx="1926418" cy="817268"/>
      </dsp:txXfrm>
    </dsp:sp>
    <dsp:sp modelId="{CBC8DF8F-60F6-4A5C-B2E6-F27E3388B514}">
      <dsp:nvSpPr>
        <dsp:cNvPr id="0" name=""/>
        <dsp:cNvSpPr/>
      </dsp:nvSpPr>
      <dsp:spPr>
        <a:xfrm>
          <a:off x="16861" y="1456664"/>
          <a:ext cx="817268" cy="8172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F57AA6-EB03-4C53-BA9C-1FDC80C637EE}">
      <dsp:nvSpPr>
        <dsp:cNvPr id="0" name=""/>
        <dsp:cNvSpPr/>
      </dsp:nvSpPr>
      <dsp:spPr>
        <a:xfrm>
          <a:off x="188487" y="1628290"/>
          <a:ext cx="474015" cy="4740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7C224D-2D3D-4441-B3DF-C5F05F68F201}">
      <dsp:nvSpPr>
        <dsp:cNvPr id="0" name=""/>
        <dsp:cNvSpPr/>
      </dsp:nvSpPr>
      <dsp:spPr>
        <a:xfrm>
          <a:off x="1009258" y="1456664"/>
          <a:ext cx="1926418" cy="817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Classify homes as selling </a:t>
          </a:r>
          <a:r>
            <a:rPr lang="en-US" sz="1400" b="1" kern="1200"/>
            <a:t>above</a:t>
          </a:r>
          <a:r>
            <a:rPr lang="en-US" sz="1400" kern="1200"/>
            <a:t> or </a:t>
          </a:r>
          <a:r>
            <a:rPr lang="en-US" sz="1400" b="1" kern="1200"/>
            <a:t>below</a:t>
          </a:r>
          <a:r>
            <a:rPr lang="en-US" sz="1400" kern="1200"/>
            <a:t> expected value</a:t>
          </a:r>
        </a:p>
      </dsp:txBody>
      <dsp:txXfrm>
        <a:off x="1009258" y="1456664"/>
        <a:ext cx="1926418" cy="817268"/>
      </dsp:txXfrm>
    </dsp:sp>
    <dsp:sp modelId="{B2E4DE86-A732-46FB-9AFB-CE1C0F24CAD3}">
      <dsp:nvSpPr>
        <dsp:cNvPr id="0" name=""/>
        <dsp:cNvSpPr/>
      </dsp:nvSpPr>
      <dsp:spPr>
        <a:xfrm>
          <a:off x="3271341" y="1456664"/>
          <a:ext cx="817268" cy="8172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C38140-EEF2-4DD4-85F5-40BB9CE0B46A}">
      <dsp:nvSpPr>
        <dsp:cNvPr id="0" name=""/>
        <dsp:cNvSpPr/>
      </dsp:nvSpPr>
      <dsp:spPr>
        <a:xfrm>
          <a:off x="3442967" y="1628290"/>
          <a:ext cx="474015" cy="4740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180F4A-AF23-4DC1-8E51-9E21D3A5A0A5}">
      <dsp:nvSpPr>
        <dsp:cNvPr id="0" name=""/>
        <dsp:cNvSpPr/>
      </dsp:nvSpPr>
      <dsp:spPr>
        <a:xfrm>
          <a:off x="4263738" y="1456664"/>
          <a:ext cx="1926418" cy="8172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Assess model uncertainty using nonparametric bootstrap methods</a:t>
          </a:r>
        </a:p>
      </dsp:txBody>
      <dsp:txXfrm>
        <a:off x="4263738" y="1456664"/>
        <a:ext cx="1926418" cy="8172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0306FB-DCFE-4414-2141-5FD6A2718B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23297" b="-2"/>
          <a:stretch>
            <a:fillRect/>
          </a:stretch>
        </p:blipFill>
        <p:spPr>
          <a:xfrm>
            <a:off x="2642616" y="10"/>
            <a:ext cx="6501384" cy="51434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51435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8485" y="841772"/>
            <a:ext cx="3017520" cy="2403100"/>
          </a:xfrm>
        </p:spPr>
        <p:txBody>
          <a:bodyPr anchor="b">
            <a:normAutofit/>
          </a:bodyPr>
          <a:lstStyle/>
          <a:p>
            <a:pPr marL="0" lvl="0" indent="0" algn="l">
              <a:buNone/>
            </a:pPr>
            <a:r>
              <a:rPr lang="en-US" sz="3600"/>
              <a:t>Understanding the Dynamics of Housing Prices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486" y="3654691"/>
            <a:ext cx="1854778" cy="1156300"/>
          </a:xfrm>
        </p:spPr>
        <p:txBody>
          <a:bodyPr>
            <a:normAutofit/>
          </a:bodyPr>
          <a:lstStyle/>
          <a:p>
            <a:pPr marL="0" lvl="0" indent="0" algn="l">
              <a:lnSpc>
                <a:spcPct val="90000"/>
              </a:lnSpc>
              <a:buNone/>
            </a:pP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Saadman Chowdhury</a:t>
            </a:r>
          </a:p>
          <a:p>
            <a:pPr marL="0" lvl="0" indent="0" algn="l">
              <a:lnSpc>
                <a:spcPct val="90000"/>
              </a:lnSpc>
              <a:buNone/>
            </a:pPr>
            <a:r>
              <a:rPr lang="en-US" sz="1400" dirty="0"/>
              <a:t>Brandon Kokin</a:t>
            </a:r>
          </a:p>
          <a:p>
            <a:pPr marL="0" lvl="0" indent="0" algn="l">
              <a:lnSpc>
                <a:spcPct val="90000"/>
              </a:lnSpc>
              <a:buNone/>
            </a:pPr>
            <a:r>
              <a:rPr lang="en-US" sz="1400" dirty="0"/>
              <a:t>Ayrat Aymetov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9144000" cy="172142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411480"/>
            <a:ext cx="7157553" cy="89154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Motivation and Overview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B03E550-B343-E5D8-C0DF-F26B401A06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68490" y="1823823"/>
          <a:ext cx="6207019" cy="2490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4478172"/>
            <a:ext cx="7475562" cy="665328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9144000" cy="172142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411480"/>
            <a:ext cx="7157553" cy="89154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Research Objectives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23528D66-D7AE-CEC2-8256-14FB3F5E44F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68490" y="1823823"/>
          <a:ext cx="6207019" cy="2490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4478172"/>
            <a:ext cx="7475562" cy="665328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741393E-C764-4C6F-8886-35CFF2E48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90890DC-37FF-4B49-BD4C-FE4232F69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4531" cy="5143500"/>
          </a:xfrm>
          <a:custGeom>
            <a:avLst/>
            <a:gdLst>
              <a:gd name="connsiteX0" fmla="*/ 0 w 5552708"/>
              <a:gd name="connsiteY0" fmla="*/ 0 h 6858000"/>
              <a:gd name="connsiteX1" fmla="*/ 5443651 w 5552708"/>
              <a:gd name="connsiteY1" fmla="*/ 0 h 6858000"/>
              <a:gd name="connsiteX2" fmla="*/ 5443781 w 5552708"/>
              <a:gd name="connsiteY2" fmla="*/ 512 h 6858000"/>
              <a:gd name="connsiteX3" fmla="*/ 5444033 w 5552708"/>
              <a:gd name="connsiteY3" fmla="*/ 20501 h 6858000"/>
              <a:gd name="connsiteX4" fmla="*/ 5439390 w 5552708"/>
              <a:gd name="connsiteY4" fmla="*/ 44768 h 6858000"/>
              <a:gd name="connsiteX5" fmla="*/ 5443913 w 5552708"/>
              <a:gd name="connsiteY5" fmla="*/ 104988 h 6858000"/>
              <a:gd name="connsiteX6" fmla="*/ 5458241 w 5552708"/>
              <a:gd name="connsiteY6" fmla="*/ 204162 h 6858000"/>
              <a:gd name="connsiteX7" fmla="*/ 5459763 w 5552708"/>
              <a:gd name="connsiteY7" fmla="*/ 225360 h 6858000"/>
              <a:gd name="connsiteX8" fmla="*/ 5454996 w 5552708"/>
              <a:gd name="connsiteY8" fmla="*/ 243902 h 6858000"/>
              <a:gd name="connsiteX9" fmla="*/ 5448597 w 5552708"/>
              <a:gd name="connsiteY9" fmla="*/ 248483 h 6858000"/>
              <a:gd name="connsiteX10" fmla="*/ 5448458 w 5552708"/>
              <a:gd name="connsiteY10" fmla="*/ 260196 h 6858000"/>
              <a:gd name="connsiteX11" fmla="*/ 5447150 w 5552708"/>
              <a:gd name="connsiteY11" fmla="*/ 263377 h 6858000"/>
              <a:gd name="connsiteX12" fmla="*/ 5459187 w 5552708"/>
              <a:gd name="connsiteY12" fmla="*/ 318691 h 6858000"/>
              <a:gd name="connsiteX13" fmla="*/ 5455708 w 5552708"/>
              <a:gd name="connsiteY13" fmla="*/ 365759 h 6858000"/>
              <a:gd name="connsiteX14" fmla="*/ 5473651 w 5552708"/>
              <a:gd name="connsiteY14" fmla="*/ 492182 h 6858000"/>
              <a:gd name="connsiteX15" fmla="*/ 5481453 w 5552708"/>
              <a:gd name="connsiteY15" fmla="*/ 689666 h 6858000"/>
              <a:gd name="connsiteX16" fmla="*/ 5488233 w 5552708"/>
              <a:gd name="connsiteY16" fmla="*/ 816332 h 6858000"/>
              <a:gd name="connsiteX17" fmla="*/ 5529718 w 5552708"/>
              <a:gd name="connsiteY17" fmla="*/ 891550 h 6858000"/>
              <a:gd name="connsiteX18" fmla="*/ 5536104 w 5552708"/>
              <a:gd name="connsiteY18" fmla="*/ 903318 h 6858000"/>
              <a:gd name="connsiteX19" fmla="*/ 5535257 w 5552708"/>
              <a:gd name="connsiteY19" fmla="*/ 905308 h 6858000"/>
              <a:gd name="connsiteX20" fmla="*/ 5537840 w 5552708"/>
              <a:gd name="connsiteY20" fmla="*/ 920621 h 6858000"/>
              <a:gd name="connsiteX21" fmla="*/ 5541663 w 5552708"/>
              <a:gd name="connsiteY21" fmla="*/ 922876 h 6858000"/>
              <a:gd name="connsiteX22" fmla="*/ 5544456 w 5552708"/>
              <a:gd name="connsiteY22" fmla="*/ 933037 h 6858000"/>
              <a:gd name="connsiteX23" fmla="*/ 5552708 w 5552708"/>
              <a:gd name="connsiteY23" fmla="*/ 952132 h 6858000"/>
              <a:gd name="connsiteX24" fmla="*/ 5551675 w 5552708"/>
              <a:gd name="connsiteY24" fmla="*/ 956570 h 6858000"/>
              <a:gd name="connsiteX25" fmla="*/ 5531341 w 5552708"/>
              <a:gd name="connsiteY25" fmla="*/ 1064863 h 6858000"/>
              <a:gd name="connsiteX26" fmla="*/ 5539998 w 5552708"/>
              <a:gd name="connsiteY26" fmla="*/ 1096340 h 6858000"/>
              <a:gd name="connsiteX27" fmla="*/ 5541075 w 5552708"/>
              <a:gd name="connsiteY27" fmla="*/ 1102915 h 6858000"/>
              <a:gd name="connsiteX28" fmla="*/ 5540822 w 5552708"/>
              <a:gd name="connsiteY28" fmla="*/ 1103143 h 6858000"/>
              <a:gd name="connsiteX29" fmla="*/ 5541413 w 5552708"/>
              <a:gd name="connsiteY29" fmla="*/ 1110274 h 6858000"/>
              <a:gd name="connsiteX30" fmla="*/ 5543038 w 5552708"/>
              <a:gd name="connsiteY30" fmla="*/ 1114901 h 6858000"/>
              <a:gd name="connsiteX31" fmla="*/ 5545128 w 5552708"/>
              <a:gd name="connsiteY31" fmla="*/ 1127652 h 6858000"/>
              <a:gd name="connsiteX32" fmla="*/ 5544028 w 5552708"/>
              <a:gd name="connsiteY32" fmla="*/ 1132698 h 6858000"/>
              <a:gd name="connsiteX33" fmla="*/ 5514811 w 5552708"/>
              <a:gd name="connsiteY33" fmla="*/ 1177140 h 6858000"/>
              <a:gd name="connsiteX34" fmla="*/ 5496402 w 5552708"/>
              <a:gd name="connsiteY34" fmla="*/ 1265293 h 6858000"/>
              <a:gd name="connsiteX35" fmla="*/ 5481620 w 5552708"/>
              <a:gd name="connsiteY35" fmla="*/ 1353039 h 6858000"/>
              <a:gd name="connsiteX36" fmla="*/ 5477938 w 5552708"/>
              <a:gd name="connsiteY36" fmla="*/ 1385038 h 6858000"/>
              <a:gd name="connsiteX37" fmla="*/ 5464009 w 5552708"/>
              <a:gd name="connsiteY37" fmla="*/ 1441067 h 6858000"/>
              <a:gd name="connsiteX38" fmla="*/ 5453063 w 5552708"/>
              <a:gd name="connsiteY38" fmla="*/ 1466104 h 6858000"/>
              <a:gd name="connsiteX39" fmla="*/ 5453368 w 5552708"/>
              <a:gd name="connsiteY39" fmla="*/ 1467310 h 6858000"/>
              <a:gd name="connsiteX40" fmla="*/ 5449849 w 5552708"/>
              <a:gd name="connsiteY40" fmla="*/ 1469198 h 6858000"/>
              <a:gd name="connsiteX41" fmla="*/ 5447717 w 5552708"/>
              <a:gd name="connsiteY41" fmla="*/ 1473816 h 6858000"/>
              <a:gd name="connsiteX42" fmla="*/ 5446906 w 5552708"/>
              <a:gd name="connsiteY42" fmla="*/ 1487106 h 6858000"/>
              <a:gd name="connsiteX43" fmla="*/ 5447429 w 5552708"/>
              <a:gd name="connsiteY43" fmla="*/ 1492218 h 6858000"/>
              <a:gd name="connsiteX44" fmla="*/ 5446434 w 5552708"/>
              <a:gd name="connsiteY44" fmla="*/ 1499455 h 6858000"/>
              <a:gd name="connsiteX45" fmla="*/ 5446146 w 5552708"/>
              <a:gd name="connsiteY45" fmla="*/ 1499600 h 6858000"/>
              <a:gd name="connsiteX46" fmla="*/ 5445728 w 5552708"/>
              <a:gd name="connsiteY46" fmla="*/ 1506449 h 6858000"/>
              <a:gd name="connsiteX47" fmla="*/ 5447013 w 5552708"/>
              <a:gd name="connsiteY47" fmla="*/ 1540420 h 6858000"/>
              <a:gd name="connsiteX48" fmla="*/ 5416036 w 5552708"/>
              <a:gd name="connsiteY48" fmla="*/ 1580834 h 6858000"/>
              <a:gd name="connsiteX49" fmla="*/ 5409252 w 5552708"/>
              <a:gd name="connsiteY49" fmla="*/ 1598373 h 6858000"/>
              <a:gd name="connsiteX50" fmla="*/ 5404223 w 5552708"/>
              <a:gd name="connsiteY50" fmla="*/ 1607549 h 6858000"/>
              <a:gd name="connsiteX51" fmla="*/ 5403003 w 5552708"/>
              <a:gd name="connsiteY51" fmla="*/ 1607994 h 6858000"/>
              <a:gd name="connsiteX52" fmla="*/ 5404366 w 5552708"/>
              <a:gd name="connsiteY52" fmla="*/ 1640580 h 6858000"/>
              <a:gd name="connsiteX53" fmla="*/ 5402429 w 5552708"/>
              <a:gd name="connsiteY53" fmla="*/ 1644617 h 6858000"/>
              <a:gd name="connsiteX54" fmla="*/ 5406027 w 5552708"/>
              <a:gd name="connsiteY54" fmla="*/ 1666228 h 6858000"/>
              <a:gd name="connsiteX55" fmla="*/ 5409538 w 5552708"/>
              <a:gd name="connsiteY55" fmla="*/ 1680703 h 6858000"/>
              <a:gd name="connsiteX56" fmla="*/ 5405582 w 5552708"/>
              <a:gd name="connsiteY56" fmla="*/ 1870222 h 6858000"/>
              <a:gd name="connsiteX57" fmla="*/ 5418948 w 5552708"/>
              <a:gd name="connsiteY57" fmla="*/ 1979530 h 6858000"/>
              <a:gd name="connsiteX58" fmla="*/ 5405060 w 5552708"/>
              <a:gd name="connsiteY58" fmla="*/ 2051964 h 6858000"/>
              <a:gd name="connsiteX59" fmla="*/ 5378701 w 5552708"/>
              <a:gd name="connsiteY59" fmla="*/ 2073120 h 6858000"/>
              <a:gd name="connsiteX60" fmla="*/ 5366006 w 5552708"/>
              <a:gd name="connsiteY60" fmla="*/ 2256053 h 6858000"/>
              <a:gd name="connsiteX61" fmla="*/ 5352501 w 5552708"/>
              <a:gd name="connsiteY61" fmla="*/ 2301374 h 6858000"/>
              <a:gd name="connsiteX62" fmla="*/ 5361572 w 5552708"/>
              <a:gd name="connsiteY62" fmla="*/ 2344135 h 6858000"/>
              <a:gd name="connsiteX63" fmla="*/ 5351776 w 5552708"/>
              <a:gd name="connsiteY63" fmla="*/ 2360013 h 6858000"/>
              <a:gd name="connsiteX64" fmla="*/ 5349856 w 5552708"/>
              <a:gd name="connsiteY64" fmla="*/ 2362723 h 6858000"/>
              <a:gd name="connsiteX65" fmla="*/ 5347182 w 5552708"/>
              <a:gd name="connsiteY65" fmla="*/ 2374239 h 6858000"/>
              <a:gd name="connsiteX66" fmla="*/ 5340172 w 5552708"/>
              <a:gd name="connsiteY66" fmla="*/ 2376629 h 6858000"/>
              <a:gd name="connsiteX67" fmla="*/ 5331662 w 5552708"/>
              <a:gd name="connsiteY67" fmla="*/ 2393351 h 6858000"/>
              <a:gd name="connsiteX68" fmla="*/ 5328482 w 5552708"/>
              <a:gd name="connsiteY68" fmla="*/ 2414790 h 6858000"/>
              <a:gd name="connsiteX69" fmla="*/ 5316501 w 5552708"/>
              <a:gd name="connsiteY69" fmla="*/ 2490864 h 6858000"/>
              <a:gd name="connsiteX70" fmla="*/ 5318378 w 5552708"/>
              <a:gd name="connsiteY70" fmla="*/ 2503797 h 6858000"/>
              <a:gd name="connsiteX71" fmla="*/ 5307008 w 5552708"/>
              <a:gd name="connsiteY71" fmla="*/ 2543608 h 6858000"/>
              <a:gd name="connsiteX72" fmla="*/ 5300817 w 5552708"/>
              <a:gd name="connsiteY72" fmla="*/ 2579627 h 6858000"/>
              <a:gd name="connsiteX73" fmla="*/ 5300491 w 5552708"/>
              <a:gd name="connsiteY73" fmla="*/ 2603469 h 6858000"/>
              <a:gd name="connsiteX74" fmla="*/ 5297327 w 5552708"/>
              <a:gd name="connsiteY74" fmla="*/ 2609298 h 6858000"/>
              <a:gd name="connsiteX75" fmla="*/ 5292648 w 5552708"/>
              <a:gd name="connsiteY75" fmla="*/ 2632709 h 6858000"/>
              <a:gd name="connsiteX76" fmla="*/ 5294499 w 5552708"/>
              <a:gd name="connsiteY76" fmla="*/ 2645215 h 6858000"/>
              <a:gd name="connsiteX77" fmla="*/ 5284921 w 5552708"/>
              <a:gd name="connsiteY77" fmla="*/ 2655995 h 6858000"/>
              <a:gd name="connsiteX78" fmla="*/ 5278681 w 5552708"/>
              <a:gd name="connsiteY78" fmla="*/ 2658097 h 6858000"/>
              <a:gd name="connsiteX79" fmla="*/ 5279052 w 5552708"/>
              <a:gd name="connsiteY79" fmla="*/ 2675265 h 6858000"/>
              <a:gd name="connsiteX80" fmla="*/ 5271485 w 5552708"/>
              <a:gd name="connsiteY80" fmla="*/ 2688260 h 6858000"/>
              <a:gd name="connsiteX81" fmla="*/ 5273609 w 5552708"/>
              <a:gd name="connsiteY81" fmla="*/ 2700785 h 6858000"/>
              <a:gd name="connsiteX82" fmla="*/ 5272098 w 5552708"/>
              <a:gd name="connsiteY82" fmla="*/ 2705655 h 6858000"/>
              <a:gd name="connsiteX83" fmla="*/ 5267605 w 5552708"/>
              <a:gd name="connsiteY83" fmla="*/ 2717660 h 6858000"/>
              <a:gd name="connsiteX84" fmla="*/ 5258449 w 5552708"/>
              <a:gd name="connsiteY84" fmla="*/ 2738177 h 6858000"/>
              <a:gd name="connsiteX85" fmla="*/ 5256679 w 5552708"/>
              <a:gd name="connsiteY85" fmla="*/ 2744727 h 6858000"/>
              <a:gd name="connsiteX86" fmla="*/ 5245116 w 5552708"/>
              <a:gd name="connsiteY86" fmla="*/ 2757932 h 6858000"/>
              <a:gd name="connsiteX87" fmla="*/ 5233122 w 5552708"/>
              <a:gd name="connsiteY87" fmla="*/ 2784915 h 6858000"/>
              <a:gd name="connsiteX88" fmla="*/ 5197792 w 5552708"/>
              <a:gd name="connsiteY88" fmla="*/ 2830475 h 6858000"/>
              <a:gd name="connsiteX89" fmla="*/ 5180199 w 5552708"/>
              <a:gd name="connsiteY89" fmla="*/ 2857691 h 6858000"/>
              <a:gd name="connsiteX90" fmla="*/ 5164940 w 5552708"/>
              <a:gd name="connsiteY90" fmla="*/ 2875644 h 6858000"/>
              <a:gd name="connsiteX91" fmla="*/ 5139323 w 5552708"/>
              <a:gd name="connsiteY91" fmla="*/ 2931296 h 6858000"/>
              <a:gd name="connsiteX92" fmla="*/ 5102390 w 5552708"/>
              <a:gd name="connsiteY92" fmla="*/ 3027705 h 6858000"/>
              <a:gd name="connsiteX93" fmla="*/ 5093321 w 5552708"/>
              <a:gd name="connsiteY93" fmla="*/ 3047244 h 6858000"/>
              <a:gd name="connsiteX94" fmla="*/ 5080729 w 5552708"/>
              <a:gd name="connsiteY94" fmla="*/ 3060118 h 6858000"/>
              <a:gd name="connsiteX95" fmla="*/ 5073626 w 5552708"/>
              <a:gd name="connsiteY95" fmla="*/ 3059690 h 6858000"/>
              <a:gd name="connsiteX96" fmla="*/ 5067867 w 5552708"/>
              <a:gd name="connsiteY96" fmla="*/ 3069806 h 6858000"/>
              <a:gd name="connsiteX97" fmla="*/ 5065335 w 5552708"/>
              <a:gd name="connsiteY97" fmla="*/ 3071678 h 6858000"/>
              <a:gd name="connsiteX98" fmla="*/ 5051806 w 5552708"/>
              <a:gd name="connsiteY98" fmla="*/ 3083233 h 6858000"/>
              <a:gd name="connsiteX99" fmla="*/ 5047824 w 5552708"/>
              <a:gd name="connsiteY99" fmla="*/ 3128247 h 6858000"/>
              <a:gd name="connsiteX100" fmla="*/ 5022444 w 5552708"/>
              <a:gd name="connsiteY100" fmla="*/ 3166893 h 6858000"/>
              <a:gd name="connsiteX101" fmla="*/ 4961916 w 5552708"/>
              <a:gd name="connsiteY101" fmla="*/ 3312149 h 6858000"/>
              <a:gd name="connsiteX102" fmla="*/ 4928070 w 5552708"/>
              <a:gd name="connsiteY102" fmla="*/ 3349450 h 6858000"/>
              <a:gd name="connsiteX103" fmla="*/ 4858652 w 5552708"/>
              <a:gd name="connsiteY103" fmla="*/ 3443841 h 6858000"/>
              <a:gd name="connsiteX104" fmla="*/ 4821392 w 5552708"/>
              <a:gd name="connsiteY104" fmla="*/ 3661714 h 6858000"/>
              <a:gd name="connsiteX105" fmla="*/ 4825147 w 5552708"/>
              <a:gd name="connsiteY105" fmla="*/ 3676668 h 6858000"/>
              <a:gd name="connsiteX106" fmla="*/ 4824341 w 5552708"/>
              <a:gd name="connsiteY106" fmla="*/ 3691352 h 6858000"/>
              <a:gd name="connsiteX107" fmla="*/ 4822735 w 5552708"/>
              <a:gd name="connsiteY107" fmla="*/ 3692500 h 6858000"/>
              <a:gd name="connsiteX108" fmla="*/ 4817318 w 5552708"/>
              <a:gd name="connsiteY108" fmla="*/ 3707640 h 6858000"/>
              <a:gd name="connsiteX109" fmla="*/ 4819146 w 5552708"/>
              <a:gd name="connsiteY109" fmla="*/ 3712253 h 6858000"/>
              <a:gd name="connsiteX110" fmla="*/ 4816373 w 5552708"/>
              <a:gd name="connsiteY110" fmla="*/ 3723048 h 6858000"/>
              <a:gd name="connsiteX111" fmla="*/ 4813460 w 5552708"/>
              <a:gd name="connsiteY111" fmla="*/ 3745409 h 6858000"/>
              <a:gd name="connsiteX112" fmla="*/ 4810527 w 5552708"/>
              <a:gd name="connsiteY112" fmla="*/ 3748566 h 6858000"/>
              <a:gd name="connsiteX113" fmla="*/ 4742720 w 5552708"/>
              <a:gd name="connsiteY113" fmla="*/ 3828954 h 6858000"/>
              <a:gd name="connsiteX114" fmla="*/ 4731784 w 5552708"/>
              <a:gd name="connsiteY114" fmla="*/ 3868871 h 6858000"/>
              <a:gd name="connsiteX115" fmla="*/ 4731481 w 5552708"/>
              <a:gd name="connsiteY115" fmla="*/ 3868898 h 6858000"/>
              <a:gd name="connsiteX116" fmla="*/ 4728490 w 5552708"/>
              <a:gd name="connsiteY116" fmla="*/ 3875525 h 6858000"/>
              <a:gd name="connsiteX117" fmla="*/ 4727500 w 5552708"/>
              <a:gd name="connsiteY117" fmla="*/ 3880683 h 6858000"/>
              <a:gd name="connsiteX118" fmla="*/ 4719663 w 5552708"/>
              <a:gd name="connsiteY118" fmla="*/ 3896892 h 6858000"/>
              <a:gd name="connsiteX119" fmla="*/ 4715899 w 5552708"/>
              <a:gd name="connsiteY119" fmla="*/ 3897345 h 6858000"/>
              <a:gd name="connsiteX120" fmla="*/ 4715832 w 5552708"/>
              <a:gd name="connsiteY120" fmla="*/ 3898632 h 6858000"/>
              <a:gd name="connsiteX121" fmla="*/ 4618476 w 5552708"/>
              <a:gd name="connsiteY121" fmla="*/ 4076334 h 6858000"/>
              <a:gd name="connsiteX122" fmla="*/ 4576303 w 5552708"/>
              <a:gd name="connsiteY122" fmla="*/ 4154580 h 6858000"/>
              <a:gd name="connsiteX123" fmla="*/ 4536795 w 5552708"/>
              <a:gd name="connsiteY123" fmla="*/ 4186216 h 6858000"/>
              <a:gd name="connsiteX124" fmla="*/ 4534335 w 5552708"/>
              <a:gd name="connsiteY124" fmla="*/ 4190678 h 6858000"/>
              <a:gd name="connsiteX125" fmla="*/ 4532585 w 5552708"/>
              <a:gd name="connsiteY125" fmla="*/ 4203860 h 6858000"/>
              <a:gd name="connsiteX126" fmla="*/ 4532745 w 5552708"/>
              <a:gd name="connsiteY126" fmla="*/ 4208983 h 6858000"/>
              <a:gd name="connsiteX127" fmla="*/ 4531239 w 5552708"/>
              <a:gd name="connsiteY127" fmla="*/ 4216126 h 6858000"/>
              <a:gd name="connsiteX128" fmla="*/ 4530941 w 5552708"/>
              <a:gd name="connsiteY128" fmla="*/ 4216251 h 6858000"/>
              <a:gd name="connsiteX129" fmla="*/ 4530039 w 5552708"/>
              <a:gd name="connsiteY129" fmla="*/ 4223045 h 6858000"/>
              <a:gd name="connsiteX130" fmla="*/ 4528920 w 5552708"/>
              <a:gd name="connsiteY130" fmla="*/ 4256957 h 6858000"/>
              <a:gd name="connsiteX131" fmla="*/ 4495092 w 5552708"/>
              <a:gd name="connsiteY131" fmla="*/ 4295227 h 6858000"/>
              <a:gd name="connsiteX132" fmla="*/ 4487069 w 5552708"/>
              <a:gd name="connsiteY132" fmla="*/ 4312260 h 6858000"/>
              <a:gd name="connsiteX133" fmla="*/ 4481391 w 5552708"/>
              <a:gd name="connsiteY133" fmla="*/ 4321074 h 6858000"/>
              <a:gd name="connsiteX134" fmla="*/ 4480140 w 5552708"/>
              <a:gd name="connsiteY134" fmla="*/ 4321443 h 6858000"/>
              <a:gd name="connsiteX135" fmla="*/ 4479199 w 5552708"/>
              <a:gd name="connsiteY135" fmla="*/ 4353976 h 6858000"/>
              <a:gd name="connsiteX136" fmla="*/ 4476976 w 5552708"/>
              <a:gd name="connsiteY136" fmla="*/ 4357874 h 6858000"/>
              <a:gd name="connsiteX137" fmla="*/ 4479044 w 5552708"/>
              <a:gd name="connsiteY137" fmla="*/ 4379621 h 6858000"/>
              <a:gd name="connsiteX138" fmla="*/ 4478683 w 5552708"/>
              <a:gd name="connsiteY138" fmla="*/ 4390568 h 6858000"/>
              <a:gd name="connsiteX139" fmla="*/ 4481532 w 5552708"/>
              <a:gd name="connsiteY139" fmla="*/ 4394254 h 6858000"/>
              <a:gd name="connsiteX140" fmla="*/ 4479499 w 5552708"/>
              <a:gd name="connsiteY140" fmla="*/ 4410114 h 6858000"/>
              <a:gd name="connsiteX141" fmla="*/ 4478153 w 5552708"/>
              <a:gd name="connsiteY141" fmla="*/ 4411710 h 6858000"/>
              <a:gd name="connsiteX142" fmla="*/ 4480616 w 5552708"/>
              <a:gd name="connsiteY142" fmla="*/ 4425622 h 6858000"/>
              <a:gd name="connsiteX143" fmla="*/ 4487688 w 5552708"/>
              <a:gd name="connsiteY143" fmla="*/ 4438292 h 6858000"/>
              <a:gd name="connsiteX144" fmla="*/ 4454727 w 5552708"/>
              <a:gd name="connsiteY144" fmla="*/ 4569970 h 6858000"/>
              <a:gd name="connsiteX145" fmla="*/ 4469804 w 5552708"/>
              <a:gd name="connsiteY145" fmla="*/ 4692415 h 6858000"/>
              <a:gd name="connsiteX146" fmla="*/ 4450795 w 5552708"/>
              <a:gd name="connsiteY146" fmla="*/ 4763659 h 6858000"/>
              <a:gd name="connsiteX147" fmla="*/ 4422945 w 5552708"/>
              <a:gd name="connsiteY147" fmla="*/ 4783049 h 6858000"/>
              <a:gd name="connsiteX148" fmla="*/ 4397314 w 5552708"/>
              <a:gd name="connsiteY148" fmla="*/ 4964397 h 6858000"/>
              <a:gd name="connsiteX149" fmla="*/ 4380606 w 5552708"/>
              <a:gd name="connsiteY149" fmla="*/ 5008665 h 6858000"/>
              <a:gd name="connsiteX150" fmla="*/ 4386649 w 5552708"/>
              <a:gd name="connsiteY150" fmla="*/ 5051823 h 6858000"/>
              <a:gd name="connsiteX151" fmla="*/ 4375733 w 5552708"/>
              <a:gd name="connsiteY151" fmla="*/ 5067011 h 6858000"/>
              <a:gd name="connsiteX152" fmla="*/ 4373624 w 5552708"/>
              <a:gd name="connsiteY152" fmla="*/ 5069584 h 6858000"/>
              <a:gd name="connsiteX153" fmla="*/ 4370134 w 5552708"/>
              <a:gd name="connsiteY153" fmla="*/ 5080883 h 6858000"/>
              <a:gd name="connsiteX154" fmla="*/ 4362957 w 5552708"/>
              <a:gd name="connsiteY154" fmla="*/ 5082819 h 6858000"/>
              <a:gd name="connsiteX155" fmla="*/ 4333195 w 5552708"/>
              <a:gd name="connsiteY155" fmla="*/ 5221840 h 6858000"/>
              <a:gd name="connsiteX156" fmla="*/ 4320037 w 5552708"/>
              <a:gd name="connsiteY156" fmla="*/ 5281999 h 6858000"/>
              <a:gd name="connsiteX157" fmla="*/ 4308816 w 5552708"/>
              <a:gd name="connsiteY157" fmla="*/ 5303704 h 6858000"/>
              <a:gd name="connsiteX158" fmla="*/ 4272244 w 5552708"/>
              <a:gd name="connsiteY158" fmla="*/ 5388756 h 6858000"/>
              <a:gd name="connsiteX159" fmla="*/ 4246915 w 5552708"/>
              <a:gd name="connsiteY159" fmla="*/ 5462809 h 6858000"/>
              <a:gd name="connsiteX160" fmla="*/ 4255030 w 5552708"/>
              <a:gd name="connsiteY160" fmla="*/ 5521632 h 6858000"/>
              <a:gd name="connsiteX161" fmla="*/ 4249277 w 5552708"/>
              <a:gd name="connsiteY161" fmla="*/ 5525636 h 6858000"/>
              <a:gd name="connsiteX162" fmla="*/ 4241924 w 5552708"/>
              <a:gd name="connsiteY162" fmla="*/ 5563850 h 6858000"/>
              <a:gd name="connsiteX163" fmla="*/ 4248240 w 5552708"/>
              <a:gd name="connsiteY163" fmla="*/ 5703386 h 6858000"/>
              <a:gd name="connsiteX164" fmla="*/ 4232982 w 5552708"/>
              <a:gd name="connsiteY164" fmla="*/ 5777907 h 6858000"/>
              <a:gd name="connsiteX165" fmla="*/ 4222394 w 5552708"/>
              <a:gd name="connsiteY165" fmla="*/ 5803443 h 6858000"/>
              <a:gd name="connsiteX166" fmla="*/ 4204974 w 5552708"/>
              <a:gd name="connsiteY166" fmla="*/ 5846279 h 6858000"/>
              <a:gd name="connsiteX167" fmla="*/ 4179217 w 5552708"/>
              <a:gd name="connsiteY167" fmla="*/ 5876046 h 6858000"/>
              <a:gd name="connsiteX168" fmla="*/ 4169698 w 5552708"/>
              <a:gd name="connsiteY168" fmla="*/ 5912761 h 6858000"/>
              <a:gd name="connsiteX169" fmla="*/ 4183963 w 5552708"/>
              <a:gd name="connsiteY169" fmla="*/ 5924201 h 6858000"/>
              <a:gd name="connsiteX170" fmla="*/ 4143073 w 5552708"/>
              <a:gd name="connsiteY170" fmla="*/ 6020347 h 6858000"/>
              <a:gd name="connsiteX171" fmla="*/ 4132699 w 5552708"/>
              <a:gd name="connsiteY171" fmla="*/ 6054447 h 6858000"/>
              <a:gd name="connsiteX172" fmla="*/ 4099744 w 5552708"/>
              <a:gd name="connsiteY172" fmla="*/ 6146773 h 6858000"/>
              <a:gd name="connsiteX173" fmla="*/ 4063216 w 5552708"/>
              <a:gd name="connsiteY173" fmla="*/ 6238624 h 6858000"/>
              <a:gd name="connsiteX174" fmla="*/ 4021696 w 5552708"/>
              <a:gd name="connsiteY174" fmla="*/ 6289517 h 6858000"/>
              <a:gd name="connsiteX175" fmla="*/ 3993817 w 5552708"/>
              <a:gd name="connsiteY175" fmla="*/ 6365399 h 6858000"/>
              <a:gd name="connsiteX176" fmla="*/ 3986236 w 5552708"/>
              <a:gd name="connsiteY176" fmla="*/ 6377584 h 6858000"/>
              <a:gd name="connsiteX177" fmla="*/ 3911599 w 5552708"/>
              <a:gd name="connsiteY177" fmla="*/ 6509659 h 6858000"/>
              <a:gd name="connsiteX178" fmla="*/ 3858869 w 5552708"/>
              <a:gd name="connsiteY178" fmla="*/ 6582751 h 6858000"/>
              <a:gd name="connsiteX179" fmla="*/ 3770950 w 5552708"/>
              <a:gd name="connsiteY179" fmla="*/ 6757987 h 6858000"/>
              <a:gd name="connsiteX180" fmla="*/ 3749766 w 5552708"/>
              <a:gd name="connsiteY180" fmla="*/ 6858000 h 6858000"/>
              <a:gd name="connsiteX181" fmla="*/ 12348 w 5552708"/>
              <a:gd name="connsiteY181" fmla="*/ 6858000 h 6858000"/>
              <a:gd name="connsiteX182" fmla="*/ 0 w 5552708"/>
              <a:gd name="connsiteY182" fmla="*/ 672566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5552708" h="6858000">
                <a:moveTo>
                  <a:pt x="0" y="0"/>
                </a:moveTo>
                <a:lnTo>
                  <a:pt x="5443651" y="0"/>
                </a:lnTo>
                <a:lnTo>
                  <a:pt x="5443781" y="512"/>
                </a:lnTo>
                <a:cubicBezTo>
                  <a:pt x="5446206" y="7309"/>
                  <a:pt x="5449083" y="15278"/>
                  <a:pt x="5444033" y="20501"/>
                </a:cubicBezTo>
                <a:cubicBezTo>
                  <a:pt x="5435420" y="27795"/>
                  <a:pt x="5439966" y="35996"/>
                  <a:pt x="5439390" y="44768"/>
                </a:cubicBezTo>
                <a:cubicBezTo>
                  <a:pt x="5431962" y="55410"/>
                  <a:pt x="5437588" y="94208"/>
                  <a:pt x="5443913" y="104988"/>
                </a:cubicBezTo>
                <a:cubicBezTo>
                  <a:pt x="5467308" y="131885"/>
                  <a:pt x="5440518" y="182050"/>
                  <a:pt x="5458241" y="204162"/>
                </a:cubicBezTo>
                <a:cubicBezTo>
                  <a:pt x="5460281" y="211583"/>
                  <a:pt x="5460566" y="218611"/>
                  <a:pt x="5459763" y="225360"/>
                </a:cubicBezTo>
                <a:lnTo>
                  <a:pt x="5454996" y="243902"/>
                </a:lnTo>
                <a:lnTo>
                  <a:pt x="5448597" y="248483"/>
                </a:lnTo>
                <a:lnTo>
                  <a:pt x="5448458" y="260196"/>
                </a:lnTo>
                <a:lnTo>
                  <a:pt x="5447150" y="263377"/>
                </a:lnTo>
                <a:cubicBezTo>
                  <a:pt x="5448938" y="273127"/>
                  <a:pt x="5457762" y="301628"/>
                  <a:pt x="5459187" y="318691"/>
                </a:cubicBezTo>
                <a:cubicBezTo>
                  <a:pt x="5456617" y="351374"/>
                  <a:pt x="5481393" y="329570"/>
                  <a:pt x="5455708" y="365759"/>
                </a:cubicBezTo>
                <a:cubicBezTo>
                  <a:pt x="5472236" y="419311"/>
                  <a:pt x="5443611" y="447897"/>
                  <a:pt x="5473651" y="492182"/>
                </a:cubicBezTo>
                <a:cubicBezTo>
                  <a:pt x="5483259" y="556102"/>
                  <a:pt x="5473858" y="624576"/>
                  <a:pt x="5481453" y="689666"/>
                </a:cubicBezTo>
                <a:cubicBezTo>
                  <a:pt x="5481825" y="737836"/>
                  <a:pt x="5505966" y="768312"/>
                  <a:pt x="5488233" y="816332"/>
                </a:cubicBezTo>
                <a:cubicBezTo>
                  <a:pt x="5492515" y="818482"/>
                  <a:pt x="5526923" y="887911"/>
                  <a:pt x="5529718" y="891550"/>
                </a:cubicBezTo>
                <a:lnTo>
                  <a:pt x="5536104" y="903318"/>
                </a:lnTo>
                <a:lnTo>
                  <a:pt x="5535257" y="905308"/>
                </a:lnTo>
                <a:cubicBezTo>
                  <a:pt x="5534066" y="913418"/>
                  <a:pt x="5535399" y="917837"/>
                  <a:pt x="5537840" y="920621"/>
                </a:cubicBezTo>
                <a:lnTo>
                  <a:pt x="5541663" y="922876"/>
                </a:lnTo>
                <a:lnTo>
                  <a:pt x="5544456" y="933037"/>
                </a:lnTo>
                <a:lnTo>
                  <a:pt x="5552708" y="952132"/>
                </a:lnTo>
                <a:lnTo>
                  <a:pt x="5551675" y="956570"/>
                </a:lnTo>
                <a:lnTo>
                  <a:pt x="5531341" y="1064863"/>
                </a:lnTo>
                <a:cubicBezTo>
                  <a:pt x="5534620" y="1074818"/>
                  <a:pt x="5537566" y="1085372"/>
                  <a:pt x="5539998" y="1096340"/>
                </a:cubicBezTo>
                <a:lnTo>
                  <a:pt x="5541075" y="1102915"/>
                </a:lnTo>
                <a:lnTo>
                  <a:pt x="5540822" y="1103143"/>
                </a:lnTo>
                <a:cubicBezTo>
                  <a:pt x="5540471" y="1104784"/>
                  <a:pt x="5540605" y="1107024"/>
                  <a:pt x="5541413" y="1110274"/>
                </a:cubicBezTo>
                <a:lnTo>
                  <a:pt x="5543038" y="1114901"/>
                </a:lnTo>
                <a:cubicBezTo>
                  <a:pt x="5543735" y="1119151"/>
                  <a:pt x="5544432" y="1123402"/>
                  <a:pt x="5545128" y="1127652"/>
                </a:cubicBezTo>
                <a:lnTo>
                  <a:pt x="5544028" y="1132698"/>
                </a:lnTo>
                <a:cubicBezTo>
                  <a:pt x="5534609" y="1151029"/>
                  <a:pt x="5496304" y="1149042"/>
                  <a:pt x="5514811" y="1177140"/>
                </a:cubicBezTo>
                <a:cubicBezTo>
                  <a:pt x="5509719" y="1211798"/>
                  <a:pt x="5486957" y="1231445"/>
                  <a:pt x="5496402" y="1265293"/>
                </a:cubicBezTo>
                <a:cubicBezTo>
                  <a:pt x="5491550" y="1297727"/>
                  <a:pt x="5479431" y="1324727"/>
                  <a:pt x="5481620" y="1353039"/>
                </a:cubicBezTo>
                <a:cubicBezTo>
                  <a:pt x="5473631" y="1363324"/>
                  <a:pt x="5469597" y="1373497"/>
                  <a:pt x="5477938" y="1385038"/>
                </a:cubicBezTo>
                <a:cubicBezTo>
                  <a:pt x="5470625" y="1414924"/>
                  <a:pt x="5455771" y="1420367"/>
                  <a:pt x="5464009" y="1441067"/>
                </a:cubicBezTo>
                <a:cubicBezTo>
                  <a:pt x="5439287" y="1455035"/>
                  <a:pt x="5447714" y="1457216"/>
                  <a:pt x="5453063" y="1466104"/>
                </a:cubicBezTo>
                <a:cubicBezTo>
                  <a:pt x="5453164" y="1466506"/>
                  <a:pt x="5453267" y="1466908"/>
                  <a:pt x="5453368" y="1467310"/>
                </a:cubicBezTo>
                <a:lnTo>
                  <a:pt x="5449849" y="1469198"/>
                </a:lnTo>
                <a:lnTo>
                  <a:pt x="5447717" y="1473816"/>
                </a:lnTo>
                <a:lnTo>
                  <a:pt x="5446906" y="1487106"/>
                </a:lnTo>
                <a:cubicBezTo>
                  <a:pt x="5447081" y="1488810"/>
                  <a:pt x="5447254" y="1490514"/>
                  <a:pt x="5447429" y="1492218"/>
                </a:cubicBezTo>
                <a:cubicBezTo>
                  <a:pt x="5447480" y="1495695"/>
                  <a:pt x="5447119" y="1497953"/>
                  <a:pt x="5446434" y="1499455"/>
                </a:cubicBezTo>
                <a:lnTo>
                  <a:pt x="5446146" y="1499600"/>
                </a:lnTo>
                <a:lnTo>
                  <a:pt x="5445728" y="1506449"/>
                </a:lnTo>
                <a:cubicBezTo>
                  <a:pt x="5445627" y="1518090"/>
                  <a:pt x="5446096" y="1529498"/>
                  <a:pt x="5447013" y="1540420"/>
                </a:cubicBezTo>
                <a:cubicBezTo>
                  <a:pt x="5431084" y="1547368"/>
                  <a:pt x="5443219" y="1588924"/>
                  <a:pt x="5416036" y="1580834"/>
                </a:cubicBezTo>
                <a:cubicBezTo>
                  <a:pt x="5416447" y="1595454"/>
                  <a:pt x="5426812" y="1605684"/>
                  <a:pt x="5409252" y="1598373"/>
                </a:cubicBezTo>
                <a:cubicBezTo>
                  <a:pt x="5408864" y="1603115"/>
                  <a:pt x="5406927" y="1605804"/>
                  <a:pt x="5404223" y="1607549"/>
                </a:cubicBezTo>
                <a:lnTo>
                  <a:pt x="5403003" y="1607994"/>
                </a:lnTo>
                <a:lnTo>
                  <a:pt x="5404366" y="1640580"/>
                </a:lnTo>
                <a:lnTo>
                  <a:pt x="5402429" y="1644617"/>
                </a:lnTo>
                <a:cubicBezTo>
                  <a:pt x="5403628" y="1651821"/>
                  <a:pt x="5404828" y="1659024"/>
                  <a:pt x="5406027" y="1666228"/>
                </a:cubicBezTo>
                <a:lnTo>
                  <a:pt x="5409538" y="1680703"/>
                </a:lnTo>
                <a:lnTo>
                  <a:pt x="5405582" y="1870222"/>
                </a:lnTo>
                <a:cubicBezTo>
                  <a:pt x="5407505" y="1917082"/>
                  <a:pt x="5419912" y="1922890"/>
                  <a:pt x="5418948" y="1979530"/>
                </a:cubicBezTo>
                <a:cubicBezTo>
                  <a:pt x="5381653" y="1974789"/>
                  <a:pt x="5447295" y="2092994"/>
                  <a:pt x="5405060" y="2051964"/>
                </a:cubicBezTo>
                <a:cubicBezTo>
                  <a:pt x="5406099" y="2068965"/>
                  <a:pt x="5389286" y="2084064"/>
                  <a:pt x="5378701" y="2073120"/>
                </a:cubicBezTo>
                <a:cubicBezTo>
                  <a:pt x="5397285" y="2126878"/>
                  <a:pt x="5362129" y="2197651"/>
                  <a:pt x="5366006" y="2256053"/>
                </a:cubicBezTo>
                <a:cubicBezTo>
                  <a:pt x="5334011" y="2283221"/>
                  <a:pt x="5362023" y="2269954"/>
                  <a:pt x="5352501" y="2301374"/>
                </a:cubicBezTo>
                <a:cubicBezTo>
                  <a:pt x="5379308" y="2296096"/>
                  <a:pt x="5332887" y="2338416"/>
                  <a:pt x="5361572" y="2344135"/>
                </a:cubicBezTo>
                <a:cubicBezTo>
                  <a:pt x="5358931" y="2349671"/>
                  <a:pt x="5355467" y="2354856"/>
                  <a:pt x="5351776" y="2360013"/>
                </a:cubicBezTo>
                <a:lnTo>
                  <a:pt x="5349856" y="2362723"/>
                </a:lnTo>
                <a:lnTo>
                  <a:pt x="5347182" y="2374239"/>
                </a:lnTo>
                <a:lnTo>
                  <a:pt x="5340172" y="2376629"/>
                </a:lnTo>
                <a:lnTo>
                  <a:pt x="5331662" y="2393351"/>
                </a:lnTo>
                <a:cubicBezTo>
                  <a:pt x="5329441" y="2399746"/>
                  <a:pt x="5328181" y="2406782"/>
                  <a:pt x="5328482" y="2414790"/>
                </a:cubicBezTo>
                <a:cubicBezTo>
                  <a:pt x="5337359" y="2435605"/>
                  <a:pt x="5319289" y="2463646"/>
                  <a:pt x="5316501" y="2490864"/>
                </a:cubicBezTo>
                <a:cubicBezTo>
                  <a:pt x="5317127" y="2495175"/>
                  <a:pt x="5317754" y="2499486"/>
                  <a:pt x="5318378" y="2503797"/>
                </a:cubicBezTo>
                <a:lnTo>
                  <a:pt x="5307008" y="2543608"/>
                </a:lnTo>
                <a:cubicBezTo>
                  <a:pt x="5304307" y="2555015"/>
                  <a:pt x="5302094" y="2566933"/>
                  <a:pt x="5300817" y="2579627"/>
                </a:cubicBezTo>
                <a:lnTo>
                  <a:pt x="5300491" y="2603469"/>
                </a:lnTo>
                <a:lnTo>
                  <a:pt x="5297327" y="2609298"/>
                </a:lnTo>
                <a:cubicBezTo>
                  <a:pt x="5296149" y="2620041"/>
                  <a:pt x="5302481" y="2635343"/>
                  <a:pt x="5292648" y="2632709"/>
                </a:cubicBezTo>
                <a:lnTo>
                  <a:pt x="5294499" y="2645215"/>
                </a:lnTo>
                <a:lnTo>
                  <a:pt x="5284921" y="2655995"/>
                </a:lnTo>
                <a:cubicBezTo>
                  <a:pt x="5282893" y="2657043"/>
                  <a:pt x="5280790" y="2657749"/>
                  <a:pt x="5278681" y="2658097"/>
                </a:cubicBezTo>
                <a:lnTo>
                  <a:pt x="5279052" y="2675265"/>
                </a:lnTo>
                <a:lnTo>
                  <a:pt x="5271485" y="2688260"/>
                </a:lnTo>
                <a:cubicBezTo>
                  <a:pt x="5272192" y="2692435"/>
                  <a:pt x="5272901" y="2696610"/>
                  <a:pt x="5273609" y="2700785"/>
                </a:cubicBezTo>
                <a:lnTo>
                  <a:pt x="5272098" y="2705655"/>
                </a:lnTo>
                <a:lnTo>
                  <a:pt x="5267605" y="2717660"/>
                </a:lnTo>
                <a:cubicBezTo>
                  <a:pt x="5264770" y="2723740"/>
                  <a:pt x="5261426" y="2730522"/>
                  <a:pt x="5258449" y="2738177"/>
                </a:cubicBezTo>
                <a:lnTo>
                  <a:pt x="5256679" y="2744727"/>
                </a:lnTo>
                <a:lnTo>
                  <a:pt x="5245116" y="2757932"/>
                </a:lnTo>
                <a:cubicBezTo>
                  <a:pt x="5236430" y="2767502"/>
                  <a:pt x="5230416" y="2775146"/>
                  <a:pt x="5233122" y="2784915"/>
                </a:cubicBezTo>
                <a:cubicBezTo>
                  <a:pt x="5221620" y="2799359"/>
                  <a:pt x="5193828" y="2806744"/>
                  <a:pt x="5197792" y="2830475"/>
                </a:cubicBezTo>
                <a:cubicBezTo>
                  <a:pt x="5186798" y="2821932"/>
                  <a:pt x="5192955" y="2855565"/>
                  <a:pt x="5180199" y="2857691"/>
                </a:cubicBezTo>
                <a:cubicBezTo>
                  <a:pt x="5170100" y="2858096"/>
                  <a:pt x="5169614" y="2868393"/>
                  <a:pt x="5164940" y="2875644"/>
                </a:cubicBezTo>
                <a:cubicBezTo>
                  <a:pt x="5154127" y="2879787"/>
                  <a:pt x="5139696" y="2917521"/>
                  <a:pt x="5139323" y="2931296"/>
                </a:cubicBezTo>
                <a:cubicBezTo>
                  <a:pt x="5144210" y="2970932"/>
                  <a:pt x="5099528" y="2996158"/>
                  <a:pt x="5102390" y="3027705"/>
                </a:cubicBezTo>
                <a:cubicBezTo>
                  <a:pt x="5100365" y="3035586"/>
                  <a:pt x="5097192" y="3041915"/>
                  <a:pt x="5093321" y="3047244"/>
                </a:cubicBezTo>
                <a:lnTo>
                  <a:pt x="5080729" y="3060118"/>
                </a:lnTo>
                <a:lnTo>
                  <a:pt x="5073626" y="3059690"/>
                </a:lnTo>
                <a:lnTo>
                  <a:pt x="5067867" y="3069806"/>
                </a:lnTo>
                <a:lnTo>
                  <a:pt x="5065335" y="3071678"/>
                </a:lnTo>
                <a:cubicBezTo>
                  <a:pt x="5060475" y="3075234"/>
                  <a:pt x="5055815" y="3078901"/>
                  <a:pt x="5051806" y="3083233"/>
                </a:cubicBezTo>
                <a:cubicBezTo>
                  <a:pt x="5076417" y="3100024"/>
                  <a:pt x="5021773" y="3122856"/>
                  <a:pt x="5047824" y="3128247"/>
                </a:cubicBezTo>
                <a:cubicBezTo>
                  <a:pt x="5030083" y="3154978"/>
                  <a:pt x="5059535" y="3153095"/>
                  <a:pt x="5022444" y="3166893"/>
                </a:cubicBezTo>
                <a:cubicBezTo>
                  <a:pt x="5009215" y="3225035"/>
                  <a:pt x="4960350" y="3252747"/>
                  <a:pt x="4961916" y="3312149"/>
                </a:cubicBezTo>
                <a:cubicBezTo>
                  <a:pt x="4955371" y="3297387"/>
                  <a:pt x="4932004" y="3332561"/>
                  <a:pt x="4928070" y="3349450"/>
                </a:cubicBezTo>
                <a:cubicBezTo>
                  <a:pt x="4901199" y="3293116"/>
                  <a:pt x="4891428" y="3463059"/>
                  <a:pt x="4858652" y="3443841"/>
                </a:cubicBezTo>
                <a:cubicBezTo>
                  <a:pt x="4840872" y="3495884"/>
                  <a:pt x="4832958" y="3617975"/>
                  <a:pt x="4821392" y="3661714"/>
                </a:cubicBezTo>
                <a:cubicBezTo>
                  <a:pt x="4823621" y="3666551"/>
                  <a:pt x="4824768" y="3671561"/>
                  <a:pt x="4825147" y="3676668"/>
                </a:cubicBezTo>
                <a:lnTo>
                  <a:pt x="4824341" y="3691352"/>
                </a:lnTo>
                <a:lnTo>
                  <a:pt x="4822735" y="3692500"/>
                </a:lnTo>
                <a:cubicBezTo>
                  <a:pt x="4817912" y="3698748"/>
                  <a:pt x="4816795" y="3703524"/>
                  <a:pt x="4817318" y="3707640"/>
                </a:cubicBezTo>
                <a:lnTo>
                  <a:pt x="4819146" y="3712253"/>
                </a:lnTo>
                <a:lnTo>
                  <a:pt x="4816373" y="3723048"/>
                </a:lnTo>
                <a:lnTo>
                  <a:pt x="4813460" y="3745409"/>
                </a:lnTo>
                <a:lnTo>
                  <a:pt x="4810527" y="3748566"/>
                </a:lnTo>
                <a:cubicBezTo>
                  <a:pt x="4798737" y="3762490"/>
                  <a:pt x="4755451" y="3809983"/>
                  <a:pt x="4742720" y="3828954"/>
                </a:cubicBezTo>
                <a:lnTo>
                  <a:pt x="4731784" y="3868871"/>
                </a:lnTo>
                <a:lnTo>
                  <a:pt x="4731481" y="3868898"/>
                </a:lnTo>
                <a:cubicBezTo>
                  <a:pt x="4730422" y="3870084"/>
                  <a:pt x="4729442" y="3872132"/>
                  <a:pt x="4728490" y="3875525"/>
                </a:cubicBezTo>
                <a:lnTo>
                  <a:pt x="4727500" y="3880683"/>
                </a:lnTo>
                <a:lnTo>
                  <a:pt x="4719663" y="3896892"/>
                </a:lnTo>
                <a:lnTo>
                  <a:pt x="4715899" y="3897345"/>
                </a:lnTo>
                <a:cubicBezTo>
                  <a:pt x="4715876" y="3897775"/>
                  <a:pt x="4715854" y="3898203"/>
                  <a:pt x="4715832" y="3898632"/>
                </a:cubicBezTo>
                <a:lnTo>
                  <a:pt x="4618476" y="4076334"/>
                </a:lnTo>
                <a:cubicBezTo>
                  <a:pt x="4617399" y="4112851"/>
                  <a:pt x="4590920" y="4122978"/>
                  <a:pt x="4576303" y="4154580"/>
                </a:cubicBezTo>
                <a:cubicBezTo>
                  <a:pt x="4585172" y="4189077"/>
                  <a:pt x="4550681" y="4172136"/>
                  <a:pt x="4536795" y="4186216"/>
                </a:cubicBezTo>
                <a:lnTo>
                  <a:pt x="4534335" y="4190678"/>
                </a:lnTo>
                <a:lnTo>
                  <a:pt x="4532585" y="4203860"/>
                </a:lnTo>
                <a:cubicBezTo>
                  <a:pt x="4532638" y="4205567"/>
                  <a:pt x="4532692" y="4207276"/>
                  <a:pt x="4532745" y="4208983"/>
                </a:cubicBezTo>
                <a:cubicBezTo>
                  <a:pt x="4532551" y="4212450"/>
                  <a:pt x="4532031" y="4214675"/>
                  <a:pt x="4531239" y="4216126"/>
                </a:cubicBezTo>
                <a:lnTo>
                  <a:pt x="4530941" y="4216251"/>
                </a:lnTo>
                <a:lnTo>
                  <a:pt x="4530039" y="4223045"/>
                </a:lnTo>
                <a:cubicBezTo>
                  <a:pt x="4529114" y="4234633"/>
                  <a:pt x="4528779" y="4246020"/>
                  <a:pt x="4528920" y="4256957"/>
                </a:cubicBezTo>
                <a:cubicBezTo>
                  <a:pt x="4512505" y="4262858"/>
                  <a:pt x="4521695" y="4305010"/>
                  <a:pt x="4495092" y="4295227"/>
                </a:cubicBezTo>
                <a:cubicBezTo>
                  <a:pt x="4494469" y="4309813"/>
                  <a:pt x="4504108" y="4320656"/>
                  <a:pt x="4487069" y="4312260"/>
                </a:cubicBezTo>
                <a:cubicBezTo>
                  <a:pt x="4486347" y="4316957"/>
                  <a:pt x="4484219" y="4319510"/>
                  <a:pt x="4481391" y="4321074"/>
                </a:cubicBezTo>
                <a:lnTo>
                  <a:pt x="4480140" y="4321443"/>
                </a:lnTo>
                <a:lnTo>
                  <a:pt x="4479199" y="4353976"/>
                </a:lnTo>
                <a:lnTo>
                  <a:pt x="4476976" y="4357874"/>
                </a:lnTo>
                <a:cubicBezTo>
                  <a:pt x="4477666" y="4365122"/>
                  <a:pt x="4478355" y="4372372"/>
                  <a:pt x="4479044" y="4379621"/>
                </a:cubicBezTo>
                <a:lnTo>
                  <a:pt x="4478683" y="4390568"/>
                </a:lnTo>
                <a:lnTo>
                  <a:pt x="4481532" y="4394254"/>
                </a:lnTo>
                <a:cubicBezTo>
                  <a:pt x="4482969" y="4397909"/>
                  <a:pt x="4482918" y="4402720"/>
                  <a:pt x="4479499" y="4410114"/>
                </a:cubicBezTo>
                <a:lnTo>
                  <a:pt x="4478153" y="4411710"/>
                </a:lnTo>
                <a:lnTo>
                  <a:pt x="4480616" y="4425622"/>
                </a:lnTo>
                <a:cubicBezTo>
                  <a:pt x="4482131" y="4430247"/>
                  <a:pt x="4484387" y="4434528"/>
                  <a:pt x="4487688" y="4438292"/>
                </a:cubicBezTo>
                <a:cubicBezTo>
                  <a:pt x="4457664" y="4477897"/>
                  <a:pt x="4468221" y="4523123"/>
                  <a:pt x="4454727" y="4569970"/>
                </a:cubicBezTo>
                <a:cubicBezTo>
                  <a:pt x="4417898" y="4583966"/>
                  <a:pt x="4440689" y="4674230"/>
                  <a:pt x="4469804" y="4692415"/>
                </a:cubicBezTo>
                <a:cubicBezTo>
                  <a:pt x="4432851" y="4685322"/>
                  <a:pt x="4490117" y="4807198"/>
                  <a:pt x="4450795" y="4763659"/>
                </a:cubicBezTo>
                <a:cubicBezTo>
                  <a:pt x="4450628" y="4780652"/>
                  <a:pt x="4432755" y="4794620"/>
                  <a:pt x="4422945" y="4783049"/>
                </a:cubicBezTo>
                <a:cubicBezTo>
                  <a:pt x="4437721" y="4837759"/>
                  <a:pt x="4397569" y="4905997"/>
                  <a:pt x="4397314" y="4964397"/>
                </a:cubicBezTo>
                <a:cubicBezTo>
                  <a:pt x="4363407" y="4989414"/>
                  <a:pt x="4392349" y="4977986"/>
                  <a:pt x="4380606" y="5008665"/>
                </a:cubicBezTo>
                <a:cubicBezTo>
                  <a:pt x="4407778" y="5005114"/>
                  <a:pt x="4358378" y="5044304"/>
                  <a:pt x="4386649" y="5051823"/>
                </a:cubicBezTo>
                <a:cubicBezTo>
                  <a:pt x="4383620" y="5057169"/>
                  <a:pt x="4379789" y="5062109"/>
                  <a:pt x="4375733" y="5067011"/>
                </a:cubicBezTo>
                <a:lnTo>
                  <a:pt x="4373624" y="5069584"/>
                </a:lnTo>
                <a:lnTo>
                  <a:pt x="4370134" y="5080883"/>
                </a:lnTo>
                <a:lnTo>
                  <a:pt x="4362957" y="5082819"/>
                </a:lnTo>
                <a:lnTo>
                  <a:pt x="4333195" y="5221840"/>
                </a:lnTo>
                <a:cubicBezTo>
                  <a:pt x="4335888" y="5234770"/>
                  <a:pt x="4329894" y="5274591"/>
                  <a:pt x="4320037" y="5281999"/>
                </a:cubicBezTo>
                <a:cubicBezTo>
                  <a:pt x="4316990" y="5290274"/>
                  <a:pt x="4318795" y="5300010"/>
                  <a:pt x="4308816" y="5303704"/>
                </a:cubicBezTo>
                <a:cubicBezTo>
                  <a:pt x="4300851" y="5321498"/>
                  <a:pt x="4282560" y="5362240"/>
                  <a:pt x="4272244" y="5388756"/>
                </a:cubicBezTo>
                <a:cubicBezTo>
                  <a:pt x="4281980" y="5405143"/>
                  <a:pt x="4255067" y="5425092"/>
                  <a:pt x="4246915" y="5462809"/>
                </a:cubicBezTo>
                <a:cubicBezTo>
                  <a:pt x="4258299" y="5480842"/>
                  <a:pt x="4241233" y="5488203"/>
                  <a:pt x="4255030" y="5521632"/>
                </a:cubicBezTo>
                <a:cubicBezTo>
                  <a:pt x="4253005" y="5522647"/>
                  <a:pt x="4251068" y="5523996"/>
                  <a:pt x="4249277" y="5525636"/>
                </a:cubicBezTo>
                <a:cubicBezTo>
                  <a:pt x="4238872" y="5535166"/>
                  <a:pt x="4235581" y="5552275"/>
                  <a:pt x="4241924" y="5563850"/>
                </a:cubicBezTo>
                <a:cubicBezTo>
                  <a:pt x="4259047" y="5616453"/>
                  <a:pt x="4250256" y="5660812"/>
                  <a:pt x="4248240" y="5703386"/>
                </a:cubicBezTo>
                <a:cubicBezTo>
                  <a:pt x="4243085" y="5751111"/>
                  <a:pt x="4218929" y="5715189"/>
                  <a:pt x="4232982" y="5777907"/>
                </a:cubicBezTo>
                <a:cubicBezTo>
                  <a:pt x="4221558" y="5782651"/>
                  <a:pt x="4219728" y="5790057"/>
                  <a:pt x="4222394" y="5803443"/>
                </a:cubicBezTo>
                <a:cubicBezTo>
                  <a:pt x="4219121" y="5826511"/>
                  <a:pt x="4193576" y="5820653"/>
                  <a:pt x="4204974" y="5846279"/>
                </a:cubicBezTo>
                <a:cubicBezTo>
                  <a:pt x="4191825" y="5839931"/>
                  <a:pt x="4191753" y="5888934"/>
                  <a:pt x="4179217" y="5876046"/>
                </a:cubicBezTo>
                <a:cubicBezTo>
                  <a:pt x="4163863" y="5888983"/>
                  <a:pt x="4183376" y="5899672"/>
                  <a:pt x="4169698" y="5912761"/>
                </a:cubicBezTo>
                <a:cubicBezTo>
                  <a:pt x="4164113" y="5929085"/>
                  <a:pt x="4186281" y="5905514"/>
                  <a:pt x="4183963" y="5924201"/>
                </a:cubicBezTo>
                <a:lnTo>
                  <a:pt x="4143073" y="6020347"/>
                </a:lnTo>
                <a:cubicBezTo>
                  <a:pt x="4148635" y="6035084"/>
                  <a:pt x="4142583" y="6045204"/>
                  <a:pt x="4132699" y="6054447"/>
                </a:cubicBezTo>
                <a:cubicBezTo>
                  <a:pt x="4128762" y="6085993"/>
                  <a:pt x="4111337" y="6112491"/>
                  <a:pt x="4099744" y="6146773"/>
                </a:cubicBezTo>
                <a:cubicBezTo>
                  <a:pt x="4101611" y="6186210"/>
                  <a:pt x="4075513" y="6201974"/>
                  <a:pt x="4063216" y="6238624"/>
                </a:cubicBezTo>
                <a:cubicBezTo>
                  <a:pt x="4076714" y="6279119"/>
                  <a:pt x="4027194" y="6257865"/>
                  <a:pt x="4021696" y="6289517"/>
                </a:cubicBezTo>
                <a:cubicBezTo>
                  <a:pt x="4030060" y="6343907"/>
                  <a:pt x="4004638" y="6285373"/>
                  <a:pt x="3993817" y="6365399"/>
                </a:cubicBezTo>
                <a:cubicBezTo>
                  <a:pt x="3996125" y="6370415"/>
                  <a:pt x="3990553" y="6379380"/>
                  <a:pt x="3986236" y="6377584"/>
                </a:cubicBezTo>
                <a:cubicBezTo>
                  <a:pt x="3984044" y="6395147"/>
                  <a:pt x="3911719" y="6484083"/>
                  <a:pt x="3911599" y="6509659"/>
                </a:cubicBezTo>
                <a:cubicBezTo>
                  <a:pt x="3888028" y="6555694"/>
                  <a:pt x="3870378" y="6548451"/>
                  <a:pt x="3858869" y="6582751"/>
                </a:cubicBezTo>
                <a:cubicBezTo>
                  <a:pt x="3834576" y="6620569"/>
                  <a:pt x="3820634" y="6692927"/>
                  <a:pt x="3770950" y="6757987"/>
                </a:cubicBezTo>
                <a:lnTo>
                  <a:pt x="3749766" y="6858000"/>
                </a:lnTo>
                <a:lnTo>
                  <a:pt x="12348" y="6858000"/>
                </a:lnTo>
                <a:lnTo>
                  <a:pt x="0" y="6725668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8" y="672351"/>
            <a:ext cx="2865473" cy="2254233"/>
          </a:xfrm>
        </p:spPr>
        <p:txBody>
          <a:bodyPr anchor="t">
            <a:normAutofit/>
          </a:bodyPr>
          <a:lstStyle/>
          <a:p>
            <a:pPr marL="0" lvl="0" indent="0">
              <a:buNone/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72351"/>
            <a:ext cx="3718250" cy="3989573"/>
          </a:xfrm>
        </p:spPr>
        <p:txBody>
          <a:bodyPr>
            <a:normAutofit/>
          </a:bodyPr>
          <a:lstStyle/>
          <a:p>
            <a:pPr lvl="0"/>
            <a:r>
              <a:rPr lang="en-US" sz="1500" b="1">
                <a:solidFill>
                  <a:schemeClr val="tx1">
                    <a:lumMod val="85000"/>
                    <a:lumOff val="15000"/>
                  </a:schemeClr>
                </a:solidFill>
              </a:rPr>
              <a:t>Ames Housing dataset</a:t>
            </a:r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</a:rPr>
              <a:t> (De Cock, 2011)</a:t>
            </a:r>
          </a:p>
          <a:p>
            <a:pPr lvl="0"/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</a:rPr>
              <a:t>2,930 residential property sales in Ames, Iowa</a:t>
            </a:r>
          </a:p>
          <a:p>
            <a:pPr lvl="0"/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</a:rPr>
              <a:t>82 variables:</a:t>
            </a:r>
          </a:p>
          <a:p>
            <a:pPr lvl="1"/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</a:rPr>
              <a:t>Nominal, ordinal, discrete, and continuous features</a:t>
            </a:r>
          </a:p>
          <a:p>
            <a:pPr lvl="0"/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</a:rPr>
              <a:t>Rich representation of housing structure and neighborhood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46732" y="50959"/>
            <a:ext cx="4806232" cy="5184544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263" y="2731238"/>
            <a:ext cx="3041564" cy="1609780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Preparation and Modeling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72351"/>
            <a:ext cx="3784647" cy="3992517"/>
          </a:xfrm>
        </p:spPr>
        <p:txBody>
          <a:bodyPr>
            <a:normAutofit/>
          </a:bodyPr>
          <a:lstStyle/>
          <a:p>
            <a:pPr lvl="0"/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Primary drivers: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Neighborhood, Overall quality, Living area</a:t>
            </a:r>
            <a:b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Secondary drivers: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Basement area, Garage capacity, Architectural style</a:t>
            </a:r>
            <a:b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en-US" sz="15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Responses:</a:t>
            </a:r>
          </a:p>
          <a:p>
            <a:pPr lvl="1"/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"/>
              </a:rPr>
              <a:t>log(</a:t>
            </a:r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  <a:latin typeface="Courier"/>
              </a:rPr>
              <a:t>SalePrice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"/>
              </a:rPr>
              <a:t>)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— explanatory modeling</a:t>
            </a:r>
            <a:b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15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/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Courier"/>
              </a:rPr>
              <a:t>AboveExpected</a:t>
            </a:r>
            <a:r>
              <a:rPr lang="en-US" sz="15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—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51435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7200"/>
            <a:ext cx="2804505" cy="998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log(SalePrice)?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6774" y="1645576"/>
            <a:ext cx="2570251" cy="2931440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Raw SalePrice distribution is </a:t>
            </a:r>
            <a:r>
              <a:rPr lang="en-US" sz="1500" b="1"/>
              <a:t>strongly right-skewed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Variance increases with price, violating OLS assumptions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Log transformation stabilizes variance and improves normality</a:t>
            </a:r>
          </a:p>
        </p:txBody>
      </p:sp>
      <p:pic>
        <p:nvPicPr>
          <p:cNvPr id="3" name="Picture 1" descr="Project_slides_files/figure-pptx/unnamed-chunk-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84092" y="1426563"/>
            <a:ext cx="4616356" cy="23081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51435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7200"/>
            <a:ext cx="2804505" cy="998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Neighborhood Effects: ANOVA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6774" y="1645576"/>
            <a:ext cx="2570251" cy="2931440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One-way ANOVA confirms </a:t>
            </a:r>
            <a:r>
              <a:rPr lang="en-US" sz="1500" b="1" dirty="0"/>
              <a:t>significant price differences</a:t>
            </a:r>
            <a:r>
              <a:rPr lang="en-US" sz="1500" dirty="0"/>
              <a:t> across neighborhoods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Strong evidence of spatial heterogeneity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Differences persist even before controlling for structure</a:t>
            </a:r>
          </a:p>
        </p:txBody>
      </p:sp>
      <p:pic>
        <p:nvPicPr>
          <p:cNvPr id="3" name="Picture 1" descr="Project_slides_files/figure-pptx/unnamed-chunk-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84092" y="1426563"/>
            <a:ext cx="4616356" cy="23081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51435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7200"/>
            <a:ext cx="2804505" cy="998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Baseline OLS Model Results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6774" y="1645576"/>
            <a:ext cx="2570251" cy="2931440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OLS explains a large share of price variation (Adjusted R² ≈ 0.84)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Dominant predictors: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Overall quality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Above-ground living area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Neighborhood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Effects persist after controlling for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62F066-0743-86A8-5FD8-3A1848346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118" y="2228069"/>
            <a:ext cx="4539115" cy="4990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51435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7200"/>
            <a:ext cx="2804505" cy="998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OLS Diagnostics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6774" y="1645576"/>
            <a:ext cx="2570251" cy="2931440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Linearity assumption appears reasonable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No strong evidence of heteroscedasticity after log transformation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No single observation unduly influences results</a:t>
            </a:r>
          </a:p>
        </p:txBody>
      </p:sp>
      <p:pic>
        <p:nvPicPr>
          <p:cNvPr id="3" name="Picture 1" descr="Project_slides_files/figure-pptx/unnamed-chunk-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84092" y="1426563"/>
            <a:ext cx="4616356" cy="23081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51435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7200"/>
            <a:ext cx="2804505" cy="998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Predicting Above-Expected Sales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6774" y="1645576"/>
            <a:ext cx="2570251" cy="2931440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Define AboveExpected relative to OLS-predicted price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Logistic regression estimates probability of selling above expected value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Residual-based outcome introduces inherent noise</a:t>
            </a:r>
          </a:p>
        </p:txBody>
      </p:sp>
      <p:pic>
        <p:nvPicPr>
          <p:cNvPr id="3" name="Picture 1" descr="Project_slides_files/figure-pptx/unnamed-chunk-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84092" y="1426563"/>
            <a:ext cx="4616356" cy="23081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51435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7200"/>
            <a:ext cx="2804505" cy="998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2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Bootstrap Inference &amp; Key Takeaways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6774" y="1645576"/>
            <a:ext cx="2570251" cy="2931440"/>
          </a:xfrm>
        </p:spPr>
        <p:txBody>
          <a:bodyPr vert="horz" lIns="91440" tIns="45720" rIns="91440" bIns="45720" rtlCol="0">
            <a:normAutofit/>
          </a:bodyPr>
          <a:lstStyle/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OLS performs well for explanation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Classification highlights market noise</a:t>
            </a:r>
          </a:p>
          <a:p>
            <a:pPr lv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/>
              <a:t>Bootstrap provides robust uncertainty quantification</a:t>
            </a:r>
          </a:p>
        </p:txBody>
      </p:sp>
      <p:pic>
        <p:nvPicPr>
          <p:cNvPr id="3" name="Picture 1" descr="Project_slides_files/figure-pptx/unnamed-chunk-6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84092" y="1426563"/>
            <a:ext cx="4616356" cy="230817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315</Words>
  <Application>Microsoft Office PowerPoint</Application>
  <PresentationFormat>On-screen Show (16:9)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</vt:lpstr>
      <vt:lpstr>Office Theme</vt:lpstr>
      <vt:lpstr>Understanding the Dynamics of Housing Prices</vt:lpstr>
      <vt:lpstr>Motivation and Overview</vt:lpstr>
      <vt:lpstr>Research Objectives</vt:lpstr>
      <vt:lpstr>Dataset Overview</vt:lpstr>
      <vt:lpstr>Data Preparation and Modeling Framework</vt:lpstr>
      <vt:lpstr>Why log(SalePrice)?</vt:lpstr>
      <vt:lpstr>Neighborhood Effects: ANOVA</vt:lpstr>
      <vt:lpstr>Baseline OLS Model Results</vt:lpstr>
      <vt:lpstr>OLS Diagnostics</vt:lpstr>
      <vt:lpstr>Predicting Above-Expected Sales</vt:lpstr>
      <vt:lpstr>Bootstrap Inference &amp; Key Takeaways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the Dynamics of Housing Prices</dc:title>
  <dc:creator>Saadman Chowdhury, Brandon Kokin, Ayrat Aymetov</dc:creator>
  <cp:keywords/>
  <cp:lastModifiedBy>Brandon Kokin</cp:lastModifiedBy>
  <cp:revision>3</cp:revision>
  <dcterms:created xsi:type="dcterms:W3CDTF">2025-12-18T13:15:19Z</dcterms:created>
  <dcterms:modified xsi:type="dcterms:W3CDTF">2025-12-19T02:05:30Z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